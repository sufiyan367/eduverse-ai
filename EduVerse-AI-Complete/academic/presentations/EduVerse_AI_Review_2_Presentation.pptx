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Canva Sans Bold" panose="020B0604020202020204" charset="0"/>
      <p:regular r:id="rId10"/>
      <p:bold r:id="rId11"/>
    </p:embeddedFont>
    <p:embeddedFont>
      <p:font typeface="Poppins Semi-Bold" panose="020B0604020202020204" charset="0"/>
      <p:regular r:id="rId12"/>
      <p:bold r:id="rId13"/>
      <p:italic r:id="rId14"/>
      <p:boldItalic r:id="rId15"/>
    </p:embeddedFont>
    <p:embeddedFont>
      <p:font typeface="Roboto Condensed" panose="020B0604020202020204" charset="0"/>
      <p:regular r:id="rId16"/>
      <p:bold r:id="rId17"/>
      <p:italic r:id="rId18"/>
      <p:boldItalic r:id="rId19"/>
    </p:embeddedFont>
    <p:embeddedFont>
      <p:font typeface="Roboto Condensed Bold" panose="020B0604020202020204" charset="0"/>
      <p:regular r:id="rId20"/>
      <p:bold r:id="rId21"/>
      <p:italic r:id="rId22"/>
      <p:boldItalic r:id="rId23"/>
    </p:embeddedFont>
    <p:embeddedFont>
      <p:font typeface="TT Norms" panose="020B0604020202020204" charset="0"/>
      <p:regular r:id="rId24"/>
      <p:bold r:id="rId25"/>
      <p:italic r:id="rId26"/>
      <p:boldItalic r:id="rId27"/>
    </p:embeddedFont>
    <p:embeddedFont>
      <p:font typeface="TT Norms Bold" panose="020B060402020202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6D4EF-B951-2681-51D7-F4B5ADC6C7DA}" v="193" dt="2025-10-03T06:53:45.477"/>
    <p1510:client id="{22B00D12-4B4A-C588-8DEC-14D20710A257}" v="2" dt="2025-10-03T06:51:22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font" Target="fonts/font13.fntdata"/><Relationship Id="rId23" Type="http://schemas.openxmlformats.org/officeDocument/2006/relationships/font" Target="fonts/font14.fntdata"/><Relationship Id="rId24" Type="http://schemas.openxmlformats.org/officeDocument/2006/relationships/font" Target="fonts/font15.fntdata"/><Relationship Id="rId25" Type="http://schemas.openxmlformats.org/officeDocument/2006/relationships/font" Target="fonts/font16.fntdata"/><Relationship Id="rId26" Type="http://schemas.openxmlformats.org/officeDocument/2006/relationships/font" Target="fonts/font17.fntdata"/><Relationship Id="rId27" Type="http://schemas.openxmlformats.org/officeDocument/2006/relationships/font" Target="fonts/font18.fntdata"/><Relationship Id="rId28" Type="http://schemas.openxmlformats.org/officeDocument/2006/relationships/font" Target="fonts/font19.fntdata"/><Relationship Id="rId29" Type="http://schemas.openxmlformats.org/officeDocument/2006/relationships/font" Target="fonts/font20.fntdata"/><Relationship Id="rId30" Type="http://schemas.openxmlformats.org/officeDocument/2006/relationships/font" Target="fonts/font21.fntdata"/><Relationship Id="rId31" Type="http://schemas.openxmlformats.org/officeDocument/2006/relationships/font" Target="fonts/font2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Patil" userId="S::monikapatil@indiraicem.ac.in::ccfa4fd1-6a32-46a4-8c14-a790439a2639" providerId="AD" clId="Web-{22B00D12-4B4A-C588-8DEC-14D20710A257}"/>
    <pc:docChg chg="modSld">
      <pc:chgData name="Monika Patil" userId="S::monikapatil@indiraicem.ac.in::ccfa4fd1-6a32-46a4-8c14-a790439a2639" providerId="AD" clId="Web-{22B00D12-4B4A-C588-8DEC-14D20710A257}" dt="2025-10-03T06:51:22.746" v="1"/>
      <pc:docMkLst>
        <pc:docMk/>
      </pc:docMkLst>
      <pc:sldChg chg="modSp">
        <pc:chgData name="Monika Patil" userId="S::monikapatil@indiraicem.ac.in::ccfa4fd1-6a32-46a4-8c14-a790439a2639" providerId="AD" clId="Web-{22B00D12-4B4A-C588-8DEC-14D20710A257}" dt="2025-10-03T06:51:22.746" v="1"/>
        <pc:sldMkLst>
          <pc:docMk/>
          <pc:sldMk cId="0" sldId="256"/>
        </pc:sldMkLst>
        <pc:spChg chg="mod">
          <ac:chgData name="Monika Patil" userId="S::monikapatil@indiraicem.ac.in::ccfa4fd1-6a32-46a4-8c14-a790439a2639" providerId="AD" clId="Web-{22B00D12-4B4A-C588-8DEC-14D20710A257}" dt="2025-10-03T06:51:22.746" v="1"/>
          <ac:spMkLst>
            <pc:docMk/>
            <pc:sldMk cId="0" sldId="256"/>
            <ac:spMk id="13" creationId="{14DF4F62-048E-218D-3881-AE7211FC5CDE}"/>
          </ac:spMkLst>
        </pc:spChg>
      </pc:sldChg>
    </pc:docChg>
  </pc:docChgLst>
  <pc:docChgLst>
    <pc:chgData name="Monika Patil" userId="S::monikapatil@indiraicem.ac.in::ccfa4fd1-6a32-46a4-8c14-a790439a2639" providerId="AD" clId="Web-{0D95681A-CCFC-6BBB-BC8E-9A521ECD0F2D}"/>
    <pc:docChg chg="modSld">
      <pc:chgData name="Monika Patil" userId="S::monikapatil@indiraicem.ac.in::ccfa4fd1-6a32-46a4-8c14-a790439a2639" providerId="AD" clId="Web-{0D95681A-CCFC-6BBB-BC8E-9A521ECD0F2D}" dt="2025-09-30T05:30:44.253" v="51" actId="20577"/>
      <pc:docMkLst>
        <pc:docMk/>
      </pc:docMkLst>
      <pc:sldChg chg="addSp delSp modSp">
        <pc:chgData name="Monika Patil" userId="S::monikapatil@indiraicem.ac.in::ccfa4fd1-6a32-46a4-8c14-a790439a2639" providerId="AD" clId="Web-{0D95681A-CCFC-6BBB-BC8E-9A521ECD0F2D}" dt="2025-09-30T05:30:44.253" v="51" actId="20577"/>
        <pc:sldMkLst>
          <pc:docMk/>
          <pc:sldMk cId="0" sldId="256"/>
        </pc:sldMkLst>
        <pc:spChg chg="add del">
          <ac:chgData name="Monika Patil" userId="S::monikapatil@indiraicem.ac.in::ccfa4fd1-6a32-46a4-8c14-a790439a2639" providerId="AD" clId="Web-{0D95681A-CCFC-6BBB-BC8E-9A521ECD0F2D}" dt="2025-09-30T05:17:54.589" v="6"/>
          <ac:spMkLst>
            <pc:docMk/>
            <pc:sldMk cId="0" sldId="256"/>
            <ac:spMk id="6" creationId="{00000000-0000-0000-0000-000000000000}"/>
          </ac:spMkLst>
        </pc:spChg>
        <pc:spChg chg="mod">
          <ac:chgData name="Monika Patil" userId="S::monikapatil@indiraicem.ac.in::ccfa4fd1-6a32-46a4-8c14-a790439a2639" providerId="AD" clId="Web-{0D95681A-CCFC-6BBB-BC8E-9A521ECD0F2D}" dt="2025-09-30T05:17:39.198" v="1" actId="20577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Monika Patil" userId="S::monikapatil@indiraicem.ac.in::ccfa4fd1-6a32-46a4-8c14-a790439a2639" providerId="AD" clId="Web-{0D95681A-CCFC-6BBB-BC8E-9A521ECD0F2D}" dt="2025-09-30T05:20:21.920" v="26" actId="20577"/>
          <ac:spMkLst>
            <pc:docMk/>
            <pc:sldMk cId="0" sldId="256"/>
            <ac:spMk id="11" creationId="{CC2CF3C5-0088-1D8E-8C5C-6474190FE5A0}"/>
          </ac:spMkLst>
        </pc:spChg>
        <pc:spChg chg="add mod">
          <ac:chgData name="Monika Patil" userId="S::monikapatil@indiraicem.ac.in::ccfa4fd1-6a32-46a4-8c14-a790439a2639" providerId="AD" clId="Web-{0D95681A-CCFC-6BBB-BC8E-9A521ECD0F2D}" dt="2025-09-30T05:20:10.560" v="24" actId="20577"/>
          <ac:spMkLst>
            <pc:docMk/>
            <pc:sldMk cId="0" sldId="256"/>
            <ac:spMk id="12" creationId="{D395A0CC-0B3A-7D55-D8C8-BC56534BC6BE}"/>
          </ac:spMkLst>
        </pc:spChg>
        <pc:spChg chg="add mod">
          <ac:chgData name="Monika Patil" userId="S::monikapatil@indiraicem.ac.in::ccfa4fd1-6a32-46a4-8c14-a790439a2639" providerId="AD" clId="Web-{0D95681A-CCFC-6BBB-BC8E-9A521ECD0F2D}" dt="2025-09-30T05:30:44.253" v="51" actId="20577"/>
          <ac:spMkLst>
            <pc:docMk/>
            <pc:sldMk cId="0" sldId="256"/>
            <ac:spMk id="13" creationId="{14DF4F62-048E-218D-3881-AE7211FC5CDE}"/>
          </ac:spMkLst>
        </pc:spChg>
        <pc:grpChg chg="mod">
          <ac:chgData name="Monika Patil" userId="S::monikapatil@indiraicem.ac.in::ccfa4fd1-6a32-46a4-8c14-a790439a2639" providerId="AD" clId="Web-{0D95681A-CCFC-6BBB-BC8E-9A521ECD0F2D}" dt="2025-09-30T05:18:04.151" v="7" actId="1076"/>
          <ac:grpSpMkLst>
            <pc:docMk/>
            <pc:sldMk cId="0" sldId="256"/>
            <ac:grpSpMk id="2" creationId="{00000000-0000-0000-0000-000000000000}"/>
          </ac:grpSpMkLst>
        </pc:grpChg>
      </pc:sldChg>
    </pc:docChg>
  </pc:docChgLst>
  <pc:docChgLst>
    <pc:chgData name="Monika Patil" userId="S::monikapatil@indiraicem.ac.in::ccfa4fd1-6a32-46a4-8c14-a790439a2639" providerId="AD" clId="Web-{1CB6D4EF-B951-2681-51D7-F4B5ADC6C7DA}"/>
    <pc:docChg chg="delSld modSld">
      <pc:chgData name="Monika Patil" userId="S::monikapatil@indiraicem.ac.in::ccfa4fd1-6a32-46a4-8c14-a790439a2639" providerId="AD" clId="Web-{1CB6D4EF-B951-2681-51D7-F4B5ADC6C7DA}" dt="2025-10-03T06:53:45.477" v="120" actId="20577"/>
      <pc:docMkLst>
        <pc:docMk/>
      </pc:docMkLst>
      <pc:sldChg chg="modSp">
        <pc:chgData name="Monika Patil" userId="S::monikapatil@indiraicem.ac.in::ccfa4fd1-6a32-46a4-8c14-a790439a2639" providerId="AD" clId="Web-{1CB6D4EF-B951-2681-51D7-F4B5ADC6C7DA}" dt="2025-10-03T04:52:44.288" v="14" actId="1076"/>
        <pc:sldMkLst>
          <pc:docMk/>
          <pc:sldMk cId="0" sldId="256"/>
        </pc:sldMkLst>
        <pc:spChg chg="mod">
          <ac:chgData name="Monika Patil" userId="S::monikapatil@indiraicem.ac.in::ccfa4fd1-6a32-46a4-8c14-a790439a2639" providerId="AD" clId="Web-{1CB6D4EF-B951-2681-51D7-F4B5ADC6C7DA}" dt="2025-10-03T04:52:44.288" v="14" actId="1076"/>
          <ac:spMkLst>
            <pc:docMk/>
            <pc:sldMk cId="0" sldId="256"/>
            <ac:spMk id="13" creationId="{14DF4F62-048E-218D-3881-AE7211FC5CDE}"/>
          </ac:spMkLst>
        </pc:spChg>
      </pc:sldChg>
      <pc:sldChg chg="addSp delSp modSp">
        <pc:chgData name="Monika Patil" userId="S::monikapatil@indiraicem.ac.in::ccfa4fd1-6a32-46a4-8c14-a790439a2639" providerId="AD" clId="Web-{1CB6D4EF-B951-2681-51D7-F4B5ADC6C7DA}" dt="2025-10-03T06:50:06.533" v="118" actId="20577"/>
        <pc:sldMkLst>
          <pc:docMk/>
          <pc:sldMk cId="0" sldId="257"/>
        </pc:sldMkLst>
        <pc:spChg chg="del mod">
          <ac:chgData name="Monika Patil" userId="S::monikapatil@indiraicem.ac.in::ccfa4fd1-6a32-46a4-8c14-a790439a2639" providerId="AD" clId="Web-{1CB6D4EF-B951-2681-51D7-F4B5ADC6C7DA}" dt="2025-10-03T06:48:33.920" v="105"/>
          <ac:spMkLst>
            <pc:docMk/>
            <pc:sldMk cId="0" sldId="257"/>
            <ac:spMk id="7" creationId="{BE9C1B08-F079-7228-6DDA-EB4E1762E239}"/>
          </ac:spMkLst>
        </pc:spChg>
        <pc:spChg chg="add mod">
          <ac:chgData name="Monika Patil" userId="S::monikapatil@indiraicem.ac.in::ccfa4fd1-6a32-46a4-8c14-a790439a2639" providerId="AD" clId="Web-{1CB6D4EF-B951-2681-51D7-F4B5ADC6C7DA}" dt="2025-10-03T06:50:06.533" v="118" actId="20577"/>
          <ac:spMkLst>
            <pc:docMk/>
            <pc:sldMk cId="0" sldId="257"/>
            <ac:spMk id="8" creationId="{3626E864-C76D-3216-9115-185B7D6397D1}"/>
          </ac:spMkLst>
        </pc:spChg>
      </pc:sldChg>
      <pc:sldChg chg="del">
        <pc:chgData name="Monika Patil" userId="S::monikapatil@indiraicem.ac.in::ccfa4fd1-6a32-46a4-8c14-a790439a2639" providerId="AD" clId="Web-{1CB6D4EF-B951-2681-51D7-F4B5ADC6C7DA}" dt="2025-10-03T06:39:38.942" v="17"/>
        <pc:sldMkLst>
          <pc:docMk/>
          <pc:sldMk cId="0" sldId="263"/>
        </pc:sldMkLst>
      </pc:sldChg>
      <pc:sldChg chg="modSp">
        <pc:chgData name="Monika Patil" userId="S::monikapatil@indiraicem.ac.in::ccfa4fd1-6a32-46a4-8c14-a790439a2639" providerId="AD" clId="Web-{1CB6D4EF-B951-2681-51D7-F4B5ADC6C7DA}" dt="2025-10-03T06:53:45.477" v="120" actId="20577"/>
        <pc:sldMkLst>
          <pc:docMk/>
          <pc:sldMk cId="0" sldId="264"/>
        </pc:sldMkLst>
        <pc:spChg chg="mod">
          <ac:chgData name="Monika Patil" userId="S::monikapatil@indiraicem.ac.in::ccfa4fd1-6a32-46a4-8c14-a790439a2639" providerId="AD" clId="Web-{1CB6D4EF-B951-2681-51D7-F4B5ADC6C7DA}" dt="2025-10-03T04:53:56.679" v="16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7:20.558" v="67" actId="20577"/>
          <ac:spMkLst>
            <pc:docMk/>
            <pc:sldMk cId="0" sldId="264"/>
            <ac:spMk id="25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7:44.559" v="90" actId="20577"/>
          <ac:spMkLst>
            <pc:docMk/>
            <pc:sldMk cId="0" sldId="264"/>
            <ac:spMk id="26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53:45.477" v="120" actId="20577"/>
          <ac:spMkLst>
            <pc:docMk/>
            <pc:sldMk cId="0" sldId="264"/>
            <ac:spMk id="27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8:19.123" v="101" actId="20577"/>
          <ac:spMkLst>
            <pc:docMk/>
            <pc:sldMk cId="0" sldId="264"/>
            <ac:spMk id="28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6:30.945" v="65"/>
          <ac:spMkLst>
            <pc:docMk/>
            <pc:sldMk cId="0" sldId="264"/>
            <ac:spMk id="29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6:23.789" v="63"/>
          <ac:spMkLst>
            <pc:docMk/>
            <pc:sldMk cId="0" sldId="264"/>
            <ac:spMk id="30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6:08.147" v="59" actId="20577"/>
          <ac:spMkLst>
            <pc:docMk/>
            <pc:sldMk cId="0" sldId="264"/>
            <ac:spMk id="33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5:49.396" v="51" actId="1076"/>
          <ac:spMkLst>
            <pc:docMk/>
            <pc:sldMk cId="0" sldId="264"/>
            <ac:spMk id="34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jpe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Relationship Id="rId10" Type="http://schemas.openxmlformats.org/officeDocument/2006/relationships/image" Target="../media/image17.jpeg"/><Relationship Id="rId11" Type="http://schemas.openxmlformats.org/officeDocument/2006/relationships/image" Target="../media/image18.png"/><Relationship Id="rId12" Type="http://schemas.openxmlformats.org/officeDocument/2006/relationships/image" Target="../media/image19.svg"/><Relationship Id="rId13" Type="http://schemas.openxmlformats.org/officeDocument/2006/relationships/image" Target="../media/image20.png"/><Relationship Id="rId14" Type="http://schemas.openxmlformats.org/officeDocument/2006/relationships/image" Target="../media/image21.svg"/><Relationship Id="rId15" Type="http://schemas.openxmlformats.org/officeDocument/2006/relationships/image" Target="../media/image22.png"/><Relationship Id="rId16" Type="http://schemas.openxmlformats.org/officeDocument/2006/relationships/image" Target="../media/image23.svg"/><Relationship Id="rId17" Type="http://schemas.openxmlformats.org/officeDocument/2006/relationships/image" Target="../media/image24.png"/><Relationship Id="rId18" Type="http://schemas.openxmlformats.org/officeDocument/2006/relationships/image" Target="../media/image25.svg"/><Relationship Id="rId19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svg"/><Relationship Id="rId6" Type="http://schemas.openxmlformats.org/officeDocument/2006/relationships/image" Target="../media/image7.jpe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svg"/><Relationship Id="rId11" Type="http://schemas.openxmlformats.org/officeDocument/2006/relationships/image" Target="../media/image34.png"/><Relationship Id="rId12" Type="http://schemas.openxmlformats.org/officeDocument/2006/relationships/image" Target="../media/image35.sv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svg"/><Relationship Id="rId16" Type="http://schemas.openxmlformats.org/officeDocument/2006/relationships/image" Target="../media/image39.png"/><Relationship Id="rId17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3268" y="-170999"/>
            <a:ext cx="18369522" cy="11081213"/>
            <a:chOff x="6471175" y="3591514"/>
            <a:chExt cx="24492695" cy="14774950"/>
          </a:xfrm>
        </p:grpSpPr>
        <p:sp>
          <p:nvSpPr>
            <p:cNvPr id="3" name="Freeform 3"/>
            <p:cNvSpPr/>
            <p:nvPr/>
          </p:nvSpPr>
          <p:spPr>
            <a:xfrm>
              <a:off x="7868174" y="12478557"/>
              <a:ext cx="394382" cy="394382"/>
            </a:xfrm>
            <a:custGeom>
              <a:avLst/>
              <a:gdLst/>
              <a:ahLst/>
              <a:cxnLst/>
              <a:rect l="l" t="t" r="r" b="b"/>
              <a:pathLst>
                <a:path w="394382" h="394382">
                  <a:moveTo>
                    <a:pt x="0" y="0"/>
                  </a:moveTo>
                  <a:lnTo>
                    <a:pt x="394381" y="0"/>
                  </a:lnTo>
                  <a:lnTo>
                    <a:pt x="394381" y="394381"/>
                  </a:lnTo>
                  <a:lnTo>
                    <a:pt x="0" y="394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8442809" y="12478557"/>
              <a:ext cx="394382" cy="394382"/>
            </a:xfrm>
            <a:custGeom>
              <a:avLst/>
              <a:gdLst/>
              <a:ahLst/>
              <a:cxnLst/>
              <a:rect l="l" t="t" r="r" b="b"/>
              <a:pathLst>
                <a:path w="394382" h="394382">
                  <a:moveTo>
                    <a:pt x="0" y="0"/>
                  </a:moveTo>
                  <a:lnTo>
                    <a:pt x="394382" y="0"/>
                  </a:lnTo>
                  <a:lnTo>
                    <a:pt x="394382" y="394381"/>
                  </a:lnTo>
                  <a:lnTo>
                    <a:pt x="0" y="394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9015926" y="12478557"/>
              <a:ext cx="394382" cy="394382"/>
            </a:xfrm>
            <a:custGeom>
              <a:avLst/>
              <a:gdLst/>
              <a:ahLst/>
              <a:cxnLst/>
              <a:rect l="l" t="t" r="r" b="b"/>
              <a:pathLst>
                <a:path w="394382" h="394382">
                  <a:moveTo>
                    <a:pt x="0" y="0"/>
                  </a:moveTo>
                  <a:lnTo>
                    <a:pt x="394382" y="0"/>
                  </a:lnTo>
                  <a:lnTo>
                    <a:pt x="394382" y="394381"/>
                  </a:lnTo>
                  <a:lnTo>
                    <a:pt x="0" y="3943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6471175" y="8067697"/>
              <a:ext cx="24492695" cy="10298767"/>
            </a:xfrm>
            <a:custGeom>
              <a:avLst/>
              <a:gdLst/>
              <a:ahLst/>
              <a:cxnLst/>
              <a:rect l="l" t="t" r="r" b="b"/>
              <a:pathLst>
                <a:path w="24492695" h="10298767">
                  <a:moveTo>
                    <a:pt x="0" y="0"/>
                  </a:moveTo>
                  <a:lnTo>
                    <a:pt x="24492694" y="0"/>
                  </a:lnTo>
                  <a:lnTo>
                    <a:pt x="24492694" y="10298766"/>
                  </a:lnTo>
                  <a:lnTo>
                    <a:pt x="0" y="10298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33774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4186991" y="3591514"/>
              <a:ext cx="8952366" cy="4476183"/>
            </a:xfrm>
            <a:custGeom>
              <a:avLst/>
              <a:gdLst/>
              <a:ahLst/>
              <a:cxnLst/>
              <a:rect l="l" t="t" r="r" b="b"/>
              <a:pathLst>
                <a:path w="8952366" h="4476183">
                  <a:moveTo>
                    <a:pt x="0" y="0"/>
                  </a:moveTo>
                  <a:lnTo>
                    <a:pt x="8952366" y="0"/>
                  </a:lnTo>
                  <a:lnTo>
                    <a:pt x="8952366" y="4476183"/>
                  </a:lnTo>
                  <a:lnTo>
                    <a:pt x="0" y="4476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16427973" y="8442313"/>
              <a:ext cx="4227451" cy="139537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804"/>
                </a:lnSpc>
              </a:pPr>
              <a:endParaRPr lang="en-US" sz="625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C2CF3C5-0088-1D8E-8C5C-6474190FE5A0}"/>
              </a:ext>
            </a:extLst>
          </p:cNvPr>
          <p:cNvSpPr txBox="1"/>
          <p:nvPr/>
        </p:nvSpPr>
        <p:spPr>
          <a:xfrm>
            <a:off x="2892670" y="4328746"/>
            <a:ext cx="12209583" cy="20005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sz="2400" b="1">
                <a:solidFill>
                  <a:srgbClr val="BE2D2D"/>
                </a:solidFill>
                <a:latin typeface="Aptos"/>
              </a:rPr>
              <a:t>Mini Project Review-2 Presentation</a:t>
            </a:r>
          </a:p>
          <a:p>
            <a:pPr algn="ctr"/>
            <a:r>
              <a:rPr sz="1700">
                <a:solidFill>
                  <a:srgbClr val="173553"/>
                </a:solidFill>
                <a:latin typeface="Aptos"/>
              </a:rPr>
              <a:t>On</a:t>
            </a:r>
          </a:p>
          <a:p>
            <a:pPr algn="ctr"/>
            <a:r>
              <a:rPr sz="2500" b="1">
                <a:solidFill>
                  <a:srgbClr val="1E385E"/>
                </a:solidFill>
                <a:latin typeface="Aptos Display"/>
              </a:rPr>
              <a:t>EduVerse AI</a:t>
            </a:r>
          </a:p>
          <a:p>
            <a:pPr algn="ctr"/>
            <a:r>
              <a:rPr sz="1500">
                <a:solidFill>
                  <a:srgbClr val="173553"/>
                </a:solidFill>
                <a:latin typeface="Aptos"/>
              </a:rPr>
              <a:t>An Animated Virtual Tutor for Personalized Learning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5A0CC-0B3A-7D55-D8C8-BC56534BC6BE}"/>
              </a:ext>
            </a:extLst>
          </p:cNvPr>
          <p:cNvSpPr txBox="1"/>
          <p:nvPr/>
        </p:nvSpPr>
        <p:spPr>
          <a:xfrm>
            <a:off x="3478823" y="3053862"/>
            <a:ext cx="1105193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>
                <a:latin typeface="Times New Roman"/>
                <a:cs typeface="Segoe UI"/>
              </a:rPr>
              <a:t>Department of Artificial Intelligence &amp; Data Science</a:t>
            </a:r>
            <a:r>
              <a:rPr lang="en-US" sz="3600">
                <a:latin typeface="Times New Roman"/>
                <a:cs typeface="Segoe UI"/>
              </a:rPr>
              <a:t>​</a:t>
            </a:r>
          </a:p>
          <a:p>
            <a:pPr algn="ctr"/>
            <a:r>
              <a:rPr lang="en-US" sz="3600">
                <a:latin typeface="Times New Roman"/>
                <a:cs typeface="Segoe UI"/>
              </a:rPr>
              <a:t>Academic year 2026-2027​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" y="8458200"/>
            <a:ext cx="306324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59000" y="8458200"/>
            <a:ext cx="306324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oogle Shape;118;p1">
            <a:extLst>
              <a:ext uri="{FF2B5EF4-FFF2-40B4-BE49-F238E27FC236}">
                <a16:creationId xmlns:a16="http://schemas.microsoft.com/office/drawing/2014/main" id="{14DF4F62-048E-218D-3881-AE7211FC5CDE}"/>
              </a:ext>
            </a:extLst>
          </p:cNvPr>
          <p:cNvSpPr txBox="1">
            <a:spLocks noGrp="1"/>
          </p:cNvSpPr>
          <p:nvPr/>
        </p:nvSpPr>
        <p:spPr>
          <a:xfrm>
            <a:off x="2217" y="8679899"/>
            <a:ext cx="18093450" cy="1280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/>
            <a:r>
              <a:rPr sz="1800" b="1">
                <a:solidFill>
                  <a:srgbClr val="BE2D2D"/>
                </a:solidFill>
                <a:latin typeface="Aptos"/>
              </a:rPr>
              <a:t>Presented By</a:t>
            </a:r>
            <a:endParaRPr lang="en-US" sz="3600" b="1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algn="l"/>
            <a:r>
              <a:rPr sz="1300" b="1">
                <a:solidFill>
                  <a:srgbClr val="143750"/>
                </a:solidFill>
                <a:latin typeface="Aptos"/>
              </a:rPr>
              <a:t>Aryan Shinde</a:t>
            </a:r>
          </a:p>
          <a:p>
            <a:pPr algn="l"/>
            <a:r>
              <a:rPr sz="1300" b="1">
                <a:solidFill>
                  <a:srgbClr val="143750"/>
                </a:solidFill>
                <a:latin typeface="Aptos"/>
              </a:rPr>
              <a:t>Huzaifa Sheikh</a:t>
            </a:r>
          </a:p>
          <a:p>
            <a:pPr algn="l"/>
            <a:r>
              <a:rPr sz="1300" b="1">
                <a:solidFill>
                  <a:srgbClr val="143750"/>
                </a:solidFill>
                <a:latin typeface="Aptos"/>
              </a:rPr>
              <a:t>Sufiyan Surve</a:t>
            </a:r>
          </a:p>
          <a:p>
            <a:pPr algn="r"/>
            <a:r>
              <a:rPr sz="1800" b="1">
                <a:solidFill>
                  <a:srgbClr val="BE2D2D"/>
                </a:solidFill>
                <a:latin typeface="Aptos"/>
              </a:rPr>
              <a:t>Mentor</a:t>
            </a:r>
          </a:p>
          <a:p>
            <a:pPr algn="r"/>
            <a:r>
              <a:rPr sz="1300" b="1">
                <a:solidFill>
                  <a:srgbClr val="143750"/>
                </a:solidFill>
                <a:latin typeface="Aptos"/>
              </a:rPr>
              <a:t>Prof. Monika Patil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1999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3030725"/>
            <a:ext cx="18452144" cy="5155881"/>
            <a:chOff x="0" y="0"/>
            <a:chExt cx="4859824" cy="13579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59824" cy="1357928"/>
            </a:xfrm>
            <a:custGeom>
              <a:avLst/>
              <a:gdLst/>
              <a:ahLst/>
              <a:cxnLst/>
              <a:rect l="l" t="t" r="r" b="b"/>
              <a:pathLst>
                <a:path w="4859824" h="1357928">
                  <a:moveTo>
                    <a:pt x="0" y="0"/>
                  </a:moveTo>
                  <a:lnTo>
                    <a:pt x="4859824" y="0"/>
                  </a:lnTo>
                  <a:lnTo>
                    <a:pt x="4859824" y="1357928"/>
                  </a:lnTo>
                  <a:lnTo>
                    <a:pt x="0" y="1357928"/>
                  </a:lnTo>
                  <a:close/>
                </a:path>
              </a:pathLst>
            </a:custGeom>
            <a:solidFill>
              <a:srgbClr val="008F8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0"/>
              <a:ext cx="4859824" cy="15484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5400000">
            <a:off x="-1350296" y="5168601"/>
            <a:ext cx="2700592" cy="1077675"/>
          </a:xfrm>
          <a:custGeom>
            <a:avLst/>
            <a:gdLst/>
            <a:ahLst/>
            <a:cxnLst/>
            <a:rect l="l" t="t" r="r" b="b"/>
            <a:pathLst>
              <a:path w="2700592" h="1077675">
                <a:moveTo>
                  <a:pt x="0" y="0"/>
                </a:moveTo>
                <a:lnTo>
                  <a:pt x="2700592" y="0"/>
                </a:lnTo>
                <a:lnTo>
                  <a:pt x="2700592" y="1077675"/>
                </a:lnTo>
                <a:lnTo>
                  <a:pt x="0" y="10776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3573"/>
            </a:stretch>
          </a:blipFill>
        </p:spPr>
      </p:sp>
      <p:sp>
        <p:nvSpPr>
          <p:cNvPr id="8" name="Freeform 8"/>
          <p:cNvSpPr/>
          <p:nvPr/>
        </p:nvSpPr>
        <p:spPr>
          <a:xfrm rot="-741444" flipH="1">
            <a:off x="15385632" y="-2938132"/>
            <a:ext cx="7256654" cy="5738804"/>
          </a:xfrm>
          <a:custGeom>
            <a:avLst/>
            <a:gdLst/>
            <a:ahLst/>
            <a:cxnLst/>
            <a:rect l="l" t="t" r="r" b="b"/>
            <a:pathLst>
              <a:path w="7256654" h="5738804">
                <a:moveTo>
                  <a:pt x="7256654" y="0"/>
                </a:moveTo>
                <a:lnTo>
                  <a:pt x="0" y="0"/>
                </a:lnTo>
                <a:lnTo>
                  <a:pt x="0" y="5738804"/>
                </a:lnTo>
                <a:lnTo>
                  <a:pt x="7256654" y="5738804"/>
                </a:lnTo>
                <a:lnTo>
                  <a:pt x="7256654" y="0"/>
                </a:lnTo>
                <a:close/>
              </a:path>
            </a:pathLst>
          </a:custGeom>
          <a:blipFill>
            <a:blip r:embed="rId6">
              <a:alphaModFix amt="1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139134" y="3030725"/>
            <a:ext cx="4148866" cy="5137915"/>
          </a:xfrm>
          <a:custGeom>
            <a:avLst/>
            <a:gdLst/>
            <a:ahLst/>
            <a:cxnLst/>
            <a:rect l="l" t="t" r="r" b="b"/>
            <a:pathLst>
              <a:path w="4148866" h="5137915">
                <a:moveTo>
                  <a:pt x="0" y="0"/>
                </a:moveTo>
                <a:lnTo>
                  <a:pt x="4148866" y="0"/>
                </a:lnTo>
                <a:lnTo>
                  <a:pt x="4148866" y="5137915"/>
                </a:lnTo>
                <a:lnTo>
                  <a:pt x="0" y="51379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12390167" y="7458995"/>
            <a:ext cx="4308518" cy="0"/>
          </a:xfrm>
          <a:prstGeom prst="line">
            <a:avLst/>
          </a:prstGeom>
          <a:ln w="19050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2390167" y="4357142"/>
            <a:ext cx="4308518" cy="0"/>
          </a:xfrm>
          <a:prstGeom prst="line">
            <a:avLst/>
          </a:prstGeom>
          <a:ln w="19050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2390167" y="5385842"/>
            <a:ext cx="4308518" cy="0"/>
          </a:xfrm>
          <a:prstGeom prst="line">
            <a:avLst/>
          </a:prstGeom>
          <a:ln w="19050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>
            <a:off x="12390167" y="6414542"/>
            <a:ext cx="4308518" cy="0"/>
          </a:xfrm>
          <a:prstGeom prst="line">
            <a:avLst/>
          </a:prstGeom>
          <a:ln w="19050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6727371" y="7468520"/>
            <a:ext cx="4237158" cy="0"/>
          </a:xfrm>
          <a:prstGeom prst="line">
            <a:avLst/>
          </a:prstGeom>
          <a:ln w="19050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6727371" y="4357142"/>
            <a:ext cx="4237158" cy="0"/>
          </a:xfrm>
          <a:prstGeom prst="line">
            <a:avLst/>
          </a:prstGeom>
          <a:ln w="19050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AutoShape 16"/>
          <p:cNvSpPr/>
          <p:nvPr/>
        </p:nvSpPr>
        <p:spPr>
          <a:xfrm>
            <a:off x="6727371" y="5385842"/>
            <a:ext cx="4237158" cy="0"/>
          </a:xfrm>
          <a:prstGeom prst="line">
            <a:avLst/>
          </a:prstGeom>
          <a:ln w="19050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6727371" y="6414542"/>
            <a:ext cx="4237158" cy="0"/>
          </a:xfrm>
          <a:prstGeom prst="line">
            <a:avLst/>
          </a:prstGeom>
          <a:ln w="19050" cap="flat">
            <a:solidFill>
              <a:srgbClr val="FFFFFF">
                <a:alpha val="4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-4274641" y="8836087"/>
            <a:ext cx="7256654" cy="5738804"/>
          </a:xfrm>
          <a:custGeom>
            <a:avLst/>
            <a:gdLst/>
            <a:ahLst/>
            <a:cxnLst/>
            <a:rect l="l" t="t" r="r" b="b"/>
            <a:pathLst>
              <a:path w="7256654" h="5738804">
                <a:moveTo>
                  <a:pt x="0" y="0"/>
                </a:moveTo>
                <a:lnTo>
                  <a:pt x="7256654" y="0"/>
                </a:lnTo>
                <a:lnTo>
                  <a:pt x="7256654" y="5738804"/>
                </a:lnTo>
                <a:lnTo>
                  <a:pt x="0" y="57388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304800" y="-137234"/>
            <a:ext cx="5138057" cy="10119434"/>
            <a:chOff x="0" y="0"/>
            <a:chExt cx="734529" cy="1446659"/>
          </a:xfrm>
        </p:grpSpPr>
        <p:sp>
          <p:nvSpPr>
            <p:cNvPr id="20" name="Freeform 20"/>
            <p:cNvSpPr/>
            <p:nvPr/>
          </p:nvSpPr>
          <p:spPr>
            <a:xfrm rot="-5400000">
              <a:off x="-356065" y="356065"/>
              <a:ext cx="1446659" cy="734529"/>
            </a:xfrm>
            <a:custGeom>
              <a:avLst/>
              <a:gdLst/>
              <a:ahLst/>
              <a:cxnLst/>
              <a:rect l="l" t="t" r="r" b="b"/>
              <a:pathLst>
                <a:path w="1446659" h="734529">
                  <a:moveTo>
                    <a:pt x="1446659" y="15068"/>
                  </a:moveTo>
                  <a:lnTo>
                    <a:pt x="1446659" y="719461"/>
                  </a:lnTo>
                  <a:cubicBezTo>
                    <a:pt x="1446659" y="723458"/>
                    <a:pt x="1445072" y="727290"/>
                    <a:pt x="1442246" y="730116"/>
                  </a:cubicBezTo>
                  <a:cubicBezTo>
                    <a:pt x="1439420" y="732942"/>
                    <a:pt x="1435588" y="734529"/>
                    <a:pt x="1431591" y="734529"/>
                  </a:cubicBezTo>
                  <a:lnTo>
                    <a:pt x="15068" y="734529"/>
                  </a:lnTo>
                  <a:cubicBezTo>
                    <a:pt x="6746" y="734529"/>
                    <a:pt x="0" y="727783"/>
                    <a:pt x="0" y="719461"/>
                  </a:cubicBezTo>
                  <a:lnTo>
                    <a:pt x="0" y="15068"/>
                  </a:lnTo>
                  <a:cubicBezTo>
                    <a:pt x="0" y="6746"/>
                    <a:pt x="6746" y="0"/>
                    <a:pt x="15068" y="0"/>
                  </a:cubicBezTo>
                  <a:lnTo>
                    <a:pt x="1431591" y="0"/>
                  </a:lnTo>
                  <a:cubicBezTo>
                    <a:pt x="1439913" y="0"/>
                    <a:pt x="1446659" y="6746"/>
                    <a:pt x="1446659" y="15068"/>
                  </a:cubicBezTo>
                  <a:close/>
                </a:path>
              </a:pathLst>
            </a:custGeom>
            <a:blipFill>
              <a:blip r:embed="rId10"/>
              <a:stretch>
                <a:fillRect t="-12730" b="-18734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Freeform 21"/>
          <p:cNvSpPr/>
          <p:nvPr/>
        </p:nvSpPr>
        <p:spPr>
          <a:xfrm rot="-5400000">
            <a:off x="-847592" y="-1166980"/>
            <a:ext cx="2304785" cy="2333959"/>
          </a:xfrm>
          <a:custGeom>
            <a:avLst/>
            <a:gdLst/>
            <a:ahLst/>
            <a:cxnLst/>
            <a:rect l="l" t="t" r="r" b="b"/>
            <a:pathLst>
              <a:path w="2304785" h="2333959">
                <a:moveTo>
                  <a:pt x="0" y="0"/>
                </a:moveTo>
                <a:lnTo>
                  <a:pt x="2304784" y="0"/>
                </a:lnTo>
                <a:lnTo>
                  <a:pt x="2304784" y="2333960"/>
                </a:lnTo>
                <a:lnTo>
                  <a:pt x="0" y="23339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727371" y="-785239"/>
            <a:ext cx="1699256" cy="1019554"/>
          </a:xfrm>
          <a:custGeom>
            <a:avLst/>
            <a:gdLst/>
            <a:ahLst/>
            <a:cxnLst/>
            <a:rect l="l" t="t" r="r" b="b"/>
            <a:pathLst>
              <a:path w="1699256" h="1019554">
                <a:moveTo>
                  <a:pt x="0" y="0"/>
                </a:moveTo>
                <a:lnTo>
                  <a:pt x="1699257" y="0"/>
                </a:lnTo>
                <a:lnTo>
                  <a:pt x="1699257" y="1019554"/>
                </a:lnTo>
                <a:lnTo>
                  <a:pt x="0" y="10195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7774614" y="-137234"/>
            <a:ext cx="677531" cy="552187"/>
          </a:xfrm>
          <a:custGeom>
            <a:avLst/>
            <a:gdLst/>
            <a:ahLst/>
            <a:cxnLst/>
            <a:rect l="l" t="t" r="r" b="b"/>
            <a:pathLst>
              <a:path w="677531" h="552187">
                <a:moveTo>
                  <a:pt x="0" y="0"/>
                </a:moveTo>
                <a:lnTo>
                  <a:pt x="677530" y="0"/>
                </a:lnTo>
                <a:lnTo>
                  <a:pt x="677530" y="552187"/>
                </a:lnTo>
                <a:lnTo>
                  <a:pt x="0" y="55218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2390167" y="9982200"/>
            <a:ext cx="5897833" cy="1690155"/>
          </a:xfrm>
          <a:custGeom>
            <a:avLst/>
            <a:gdLst/>
            <a:ahLst/>
            <a:cxnLst/>
            <a:rect l="l" t="t" r="r" b="b"/>
            <a:pathLst>
              <a:path w="5897833" h="1690155">
                <a:moveTo>
                  <a:pt x="0" y="0"/>
                </a:moveTo>
                <a:lnTo>
                  <a:pt x="5897833" y="0"/>
                </a:lnTo>
                <a:lnTo>
                  <a:pt x="5897833" y="1690155"/>
                </a:lnTo>
                <a:lnTo>
                  <a:pt x="0" y="169015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t="-189630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2390167" y="3563455"/>
            <a:ext cx="3298868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25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Implementation</a:t>
            </a:r>
            <a:endParaRPr lang="en-US" sz="2520">
              <a:solidFill>
                <a:srgbClr val="FFFFFF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390167" y="4592155"/>
            <a:ext cx="3298868" cy="565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2500">
                <a:solidFill>
                  <a:srgbClr val="FFFFFF"/>
                </a:solidFill>
                <a:latin typeface="TT Norms"/>
                <a:ea typeface="TT Norms"/>
                <a:cs typeface="TT Norms"/>
              </a:rPr>
              <a:t>Applications of System</a:t>
            </a:r>
            <a:endParaRPr lang="en-US" sz="2500">
              <a:latin typeface="TT Norms"/>
              <a:ea typeface="TT Norms"/>
              <a:cs typeface="TT Norm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390167" y="6671145"/>
            <a:ext cx="3240280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25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Conclusion &amp; References </a:t>
            </a:r>
            <a:endParaRPr lang="en-US" sz="2520">
              <a:solidFill>
                <a:srgbClr val="FFFFFF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390167" y="5620855"/>
            <a:ext cx="3298868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2500">
                <a:solidFill>
                  <a:srgbClr val="FFFFFF"/>
                </a:solidFill>
                <a:latin typeface="TT Norms"/>
                <a:ea typeface="TT Norms"/>
                <a:cs typeface="TT Norms"/>
              </a:rPr>
              <a:t>Future Scope of System</a:t>
            </a:r>
            <a:endParaRPr lang="en-US" sz="2520">
              <a:solidFill>
                <a:srgbClr val="FFFFFF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727371" y="3563455"/>
            <a:ext cx="3227508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252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Introduction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727371" y="4592155"/>
            <a:ext cx="3227508" cy="134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520">
                <a:solidFill>
                  <a:srgbClr val="FFFFFF"/>
                </a:solidFill>
                <a:latin typeface="TT Norms"/>
                <a:cs typeface="TT Norms"/>
                <a:sym typeface="TT Norms"/>
              </a:rPr>
              <a:t>Aim and Objectives of the project</a:t>
            </a:r>
            <a:endParaRPr lang="en-US"/>
          </a:p>
          <a:p>
            <a:pPr algn="l">
              <a:lnSpc>
                <a:spcPts val="5040"/>
              </a:lnSpc>
            </a:pPr>
            <a:endParaRPr lang="en-US" sz="2500">
              <a:solidFill>
                <a:srgbClr val="FFFFFF"/>
              </a:solidFill>
              <a:latin typeface="TT Norms"/>
              <a:ea typeface="TT Norms"/>
              <a:cs typeface="TT Norm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361642" y="3548788"/>
            <a:ext cx="602887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52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01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361642" y="4577488"/>
            <a:ext cx="602887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52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02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27371" y="5620855"/>
            <a:ext cx="3227508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</a:pPr>
            <a:r>
              <a:rPr lang="en-US" sz="2500">
                <a:solidFill>
                  <a:srgbClr val="FFFFFF"/>
                </a:solidFill>
                <a:latin typeface="TT Norms"/>
                <a:ea typeface="TT Norms"/>
                <a:cs typeface="TT Norms"/>
              </a:rPr>
              <a:t>Tools Used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47078" y="6414957"/>
            <a:ext cx="5198195" cy="950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50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</a:t>
            </a:r>
            <a:r>
              <a:rPr lang="en-US" sz="2500">
                <a:solidFill>
                  <a:srgbClr val="FFFFFF"/>
                </a:solidFill>
                <a:ea typeface="+mn-lt"/>
                <a:cs typeface="+mn-lt"/>
                <a:sym typeface="TT Norms"/>
              </a:rPr>
              <a:t>Proposed Solution / </a:t>
            </a:r>
            <a:endParaRPr lang="en-US" sz="2520">
              <a:solidFill>
                <a:srgbClr val="FFFFFF"/>
              </a:solidFill>
              <a:latin typeface="TT Norms"/>
              <a:ea typeface="+mn-lt"/>
              <a:cs typeface="TT Norms"/>
            </a:endParaRPr>
          </a:p>
          <a:p>
            <a:pPr>
              <a:lnSpc>
                <a:spcPts val="5040"/>
              </a:lnSpc>
            </a:pPr>
            <a:r>
              <a:rPr lang="en-US" sz="2500">
                <a:solidFill>
                  <a:srgbClr val="FFFFFF"/>
                </a:solidFill>
                <a:ea typeface="+mn-lt"/>
                <a:cs typeface="+mn-lt"/>
                <a:sym typeface="TT Norms"/>
              </a:rPr>
              <a:t>System Overview</a:t>
            </a:r>
            <a:endParaRPr lang="en-US" sz="2500">
              <a:solidFill>
                <a:srgbClr val="FFFFFF"/>
              </a:solidFill>
              <a:latin typeface="TT Norms"/>
              <a:ea typeface="TT Norms"/>
              <a:cs typeface="TT Norm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361642" y="5606188"/>
            <a:ext cx="602887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52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03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361642" y="6656478"/>
            <a:ext cx="602887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52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04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095798" y="3548788"/>
            <a:ext cx="602887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52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05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6095798" y="4577488"/>
            <a:ext cx="602887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52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06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6095798" y="6656478"/>
            <a:ext cx="602887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52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08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095798" y="5606188"/>
            <a:ext cx="602887" cy="572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52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07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727371" y="1348740"/>
            <a:ext cx="3743041" cy="8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7"/>
              </a:lnSpc>
            </a:pPr>
            <a:r>
              <a:rPr lang="en-US" sz="6399" b="1">
                <a:solidFill>
                  <a:srgbClr val="023535"/>
                </a:solidFill>
                <a:latin typeface="TT Norms Bold"/>
                <a:ea typeface="TT Norms Bold"/>
                <a:cs typeface="TT Norms Bold"/>
                <a:sym typeface="TT Norms Bold"/>
              </a:rPr>
              <a:t>Agenda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0" y="0"/>
            <a:ext cx="18510317" cy="10056120"/>
            <a:chOff x="0" y="0"/>
            <a:chExt cx="24680423" cy="13408161"/>
          </a:xfrm>
        </p:grpSpPr>
        <p:sp>
          <p:nvSpPr>
            <p:cNvPr id="43" name="AutoShape 43"/>
            <p:cNvSpPr/>
            <p:nvPr/>
          </p:nvSpPr>
          <p:spPr>
            <a:xfrm>
              <a:off x="25400" y="12574494"/>
              <a:ext cx="2465502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9897884" y="12823398"/>
              <a:ext cx="4721487" cy="58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  <a:spcBef>
                  <a:spcPct val="0"/>
                </a:spcBef>
              </a:pPr>
              <a:r>
                <a:rPr lang="en-US" sz="2606" b="1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www.indiraicem.ac.in</a:t>
              </a:r>
              <a:endParaRPr lang="en-US" sz="26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510317" cy="10056120"/>
            <a:chOff x="0" y="0"/>
            <a:chExt cx="24680423" cy="13408161"/>
          </a:xfrm>
        </p:grpSpPr>
        <p:sp>
          <p:nvSpPr>
            <p:cNvPr id="4" name="AutoShape 4"/>
            <p:cNvSpPr/>
            <p:nvPr/>
          </p:nvSpPr>
          <p:spPr>
            <a:xfrm>
              <a:off x="25400" y="12574494"/>
              <a:ext cx="2465502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9897885" y="12823398"/>
              <a:ext cx="5443715" cy="58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  <a:spcBef>
                  <a:spcPct val="0"/>
                </a:spcBef>
              </a:pPr>
              <a:r>
                <a:rPr lang="en-US" sz="2606" b="1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www.indiraicem.ac.in</a:t>
              </a:r>
              <a:endParaRPr lang="en-US" sz="26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626E864-C76D-3216-9115-185B7D6397D1}"/>
              </a:ext>
            </a:extLst>
          </p:cNvPr>
          <p:cNvSpPr txBox="1"/>
          <p:nvPr/>
        </p:nvSpPr>
        <p:spPr>
          <a:xfrm>
            <a:off x="1600200" y="698500"/>
            <a:ext cx="67098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600" b="1">
                <a:latin typeface="Times New Roman"/>
                <a:ea typeface="Calibri"/>
                <a:cs typeface="Calibri"/>
              </a:rPr>
              <a:t>Introduction</a:t>
            </a:r>
            <a:endParaRPr lang="en-US" sz="3600" b="1" err="1"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00200" y="658368"/>
            <a:ext cx="14996159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385E"/>
                </a:solidFill>
                <a:latin typeface="Aptos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207008"/>
            <a:ext cx="14813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26069"/>
                </a:solidFill>
                <a:latin typeface="Aptos"/>
              </a:rPr>
              <a:t>Why EduVerse AI?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691640"/>
            <a:ext cx="1920240" cy="347472"/>
          </a:xfrm>
          <a:prstGeom prst="roundRect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THE 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148840"/>
            <a:ext cx="649224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2423160"/>
            <a:ext cx="59436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E385E"/>
                </a:solidFill>
                <a:latin typeface="Aptos"/>
              </a:rPr>
              <a:t>Learning resources are fragmented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971800"/>
            <a:ext cx="5760720" cy="164592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26069"/>
                </a:solidFill>
                <a:latin typeface="Aptos"/>
              </a:defRPr>
            </a:pPr>
            <a:r>
              <a:t>• Students rely on static PDFs, notes and videos.</a:t>
            </a:r>
          </a:p>
          <a:p>
            <a:pPr>
              <a:spcAft>
                <a:spcPts val="700"/>
              </a:spcAft>
              <a:defRPr sz="1500">
                <a:solidFill>
                  <a:srgbClr val="526069"/>
                </a:solidFill>
                <a:latin typeface="Aptos"/>
              </a:defRPr>
            </a:pPr>
            <a:r>
              <a:t>• Doubts often require switching between multiple resources.</a:t>
            </a:r>
          </a:p>
          <a:p>
            <a:pPr>
              <a:spcAft>
                <a:spcPts val="700"/>
              </a:spcAft>
              <a:defRPr sz="1500">
                <a:solidFill>
                  <a:srgbClr val="526069"/>
                </a:solidFill>
                <a:latin typeface="Aptos"/>
              </a:defRPr>
            </a:pPr>
            <a:r>
              <a:t>• Creating practice questions from study material is time-consuming.</a:t>
            </a:r>
          </a:p>
          <a:p>
            <a:pPr>
              <a:spcAft>
                <a:spcPts val="700"/>
              </a:spcAft>
              <a:defRPr sz="1500">
                <a:solidFill>
                  <a:srgbClr val="526069"/>
                </a:solidFill>
                <a:latin typeface="Aptos"/>
              </a:defRPr>
            </a:pPr>
            <a:r>
              <a:t>• Students need faster, contextual feedback while learning.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91640"/>
            <a:ext cx="1965960" cy="347472"/>
          </a:xfrm>
          <a:prstGeom prst="roundRect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THE 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48840"/>
            <a:ext cx="7635240" cy="2834640"/>
          </a:xfrm>
          <a:prstGeom prst="roundRect">
            <a:avLst/>
          </a:prstGeom>
          <a:solidFill>
            <a:srgbClr val="EBF8F8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423160"/>
            <a:ext cx="70408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E385E"/>
                </a:solidFill>
                <a:latin typeface="Aptos"/>
              </a:rPr>
              <a:t>EduVerse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926080"/>
            <a:ext cx="6903720" cy="1417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26069"/>
                </a:solidFill>
                <a:latin typeface="Aptos"/>
              </a:rPr>
              <a:t>An AI-powered animated virtual tutor that connects study material with contextual Q&amp;A, simplified explanations and AI-generated quizzes in one learning workflow.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5897880"/>
            <a:ext cx="1874519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6062472"/>
            <a:ext cx="16916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85E"/>
                </a:solidFill>
                <a:latin typeface="Aptos"/>
              </a:rPr>
              <a:t>Study
Material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291839" y="6208776"/>
            <a:ext cx="594360" cy="329184"/>
          </a:xfrm>
          <a:prstGeom prst="right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69080" y="5897880"/>
            <a:ext cx="1874519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6062472"/>
            <a:ext cx="16916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85E"/>
                </a:solidFill>
                <a:latin typeface="Aptos"/>
              </a:rPr>
              <a:t>AI
Processing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035040" y="6208776"/>
            <a:ext cx="594360" cy="329184"/>
          </a:xfrm>
          <a:prstGeom prst="right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12280" y="5897880"/>
            <a:ext cx="1874519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6062472"/>
            <a:ext cx="16916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85E"/>
                </a:solidFill>
                <a:latin typeface="Aptos"/>
              </a:rPr>
              <a:t>Contextual
Q&amp;A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778240" y="6208776"/>
            <a:ext cx="594360" cy="329184"/>
          </a:xfrm>
          <a:prstGeom prst="right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55480" y="5897880"/>
            <a:ext cx="1874519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46919" y="6062472"/>
            <a:ext cx="16916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85E"/>
                </a:solidFill>
                <a:latin typeface="Aptos"/>
              </a:rPr>
              <a:t>Quiz
Generation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1521440" y="6208776"/>
            <a:ext cx="594360" cy="329184"/>
          </a:xfrm>
          <a:prstGeom prst="right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298680" y="5897880"/>
            <a:ext cx="1874519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90119" y="6062472"/>
            <a:ext cx="1691640" cy="59436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85E"/>
                </a:solidFill>
                <a:latin typeface="Aptos"/>
              </a:rPr>
              <a:t>Feedback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7406640"/>
            <a:ext cx="144475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88989"/>
                </a:solidFill>
                <a:latin typeface="Aptos"/>
              </a:rPr>
              <a:t>The goal is to make learning more interactive, contextual and self-assessment driven.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0" y="9710928"/>
            <a:ext cx="40233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4979D"/>
                </a:solidFill>
                <a:latin typeface="Aptos"/>
              </a:rPr>
              <a:t>EduVerse AI • Mini Project Review-2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510317" cy="10056120"/>
            <a:chOff x="0" y="0"/>
            <a:chExt cx="24680423" cy="13408161"/>
          </a:xfrm>
        </p:grpSpPr>
        <p:sp>
          <p:nvSpPr>
            <p:cNvPr id="4" name="AutoShape 4"/>
            <p:cNvSpPr/>
            <p:nvPr/>
          </p:nvSpPr>
          <p:spPr>
            <a:xfrm>
              <a:off x="25400" y="12574494"/>
              <a:ext cx="2465502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9897885" y="12823398"/>
              <a:ext cx="5748515" cy="58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  <a:spcBef>
                  <a:spcPct val="0"/>
                </a:spcBef>
              </a:pPr>
              <a:r>
                <a:rPr lang="en-US" sz="2606" b="1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www.indiraicem.ac.in</a:t>
              </a:r>
              <a:endParaRPr lang="en-US" sz="26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600200" y="658368"/>
            <a:ext cx="14996159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385E"/>
                </a:solidFill>
                <a:latin typeface="Aptos"/>
              </a:rPr>
              <a:t>Aim &amp;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207008"/>
            <a:ext cx="14813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26069"/>
                </a:solidFill>
                <a:latin typeface="Aptos"/>
              </a:rPr>
              <a:t>What the project is designed to achieve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1600200"/>
            <a:ext cx="914400" cy="347472"/>
          </a:xfrm>
          <a:prstGeom prst="roundRect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AIM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1481328"/>
            <a:ext cx="13807440" cy="1051560"/>
          </a:xfrm>
          <a:prstGeom prst="roundRect">
            <a:avLst/>
          </a:prstGeom>
          <a:solidFill>
            <a:srgbClr val="EBF8F8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1673352"/>
            <a:ext cx="13258800" cy="65836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E385E"/>
                </a:solidFill>
                <a:latin typeface="Aptos"/>
              </a:rPr>
              <a:t>Develop an AI-powered animated virtual tutor that provides interactive, contextual and personalized learning assistance using student study material.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71800"/>
            <a:ext cx="36576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E385E"/>
                </a:solidFill>
                <a:latin typeface="Aptos"/>
              </a:rPr>
              <a:t>OBJECTIVES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520440"/>
            <a:ext cx="43434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25880" y="3730752"/>
            <a:ext cx="502920" cy="50292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3703320"/>
            <a:ext cx="3200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385E"/>
                </a:solidFill>
                <a:latin typeface="Aptos"/>
              </a:rPr>
              <a:t>Interactive AI Tutor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4160520"/>
            <a:ext cx="324612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6069"/>
                </a:solidFill>
                <a:latin typeface="Aptos"/>
              </a:rPr>
              <a:t>Provide an AI-based learning assistant for student queries.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3520440"/>
            <a:ext cx="43434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80760" y="3730752"/>
            <a:ext cx="502920" cy="50292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03320"/>
            <a:ext cx="3200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385E"/>
                </a:solidFill>
                <a:latin typeface="Aptos"/>
              </a:rPr>
              <a:t>Material-Based 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160520"/>
            <a:ext cx="324612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6069"/>
                </a:solidFill>
                <a:latin typeface="Aptos"/>
              </a:rPr>
              <a:t>Answer questions using the student's learning content.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52760" y="3520440"/>
            <a:ext cx="43434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35640" y="3730752"/>
            <a:ext cx="502920" cy="50292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3703320"/>
            <a:ext cx="3200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385E"/>
                </a:solidFill>
                <a:latin typeface="Aptos"/>
              </a:rPr>
              <a:t>Simple Explanations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4160520"/>
            <a:ext cx="324612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6069"/>
                </a:solidFill>
                <a:latin typeface="Aptos"/>
              </a:rPr>
              <a:t>Turn difficult concepts into clearer explanations.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" y="5669280"/>
            <a:ext cx="43434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5879592"/>
            <a:ext cx="502920" cy="50292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852160"/>
            <a:ext cx="3200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385E"/>
                </a:solidFill>
                <a:latin typeface="Aptos"/>
              </a:rPr>
              <a:t>Quiz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6309360"/>
            <a:ext cx="324612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6069"/>
                </a:solidFill>
                <a:latin typeface="Aptos"/>
              </a:rPr>
              <a:t>Generate practice questions from study material.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80" y="5669280"/>
            <a:ext cx="43434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080760" y="5879592"/>
            <a:ext cx="502920" cy="50292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5852160"/>
            <a:ext cx="3200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385E"/>
                </a:solidFill>
                <a:latin typeface="Aptos"/>
              </a:rPr>
              <a:t>Self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6309360"/>
            <a:ext cx="324612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6069"/>
                </a:solidFill>
                <a:latin typeface="Aptos"/>
              </a:rPr>
              <a:t>Display quiz results for quick feedback.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52760" y="5669280"/>
            <a:ext cx="4343400" cy="1691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35640" y="5879592"/>
            <a:ext cx="502920" cy="50292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5852160"/>
            <a:ext cx="3200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385E"/>
                </a:solidFill>
                <a:latin typeface="Aptos"/>
              </a:rPr>
              <a:t>Animated Experience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309360"/>
            <a:ext cx="324612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26069"/>
                </a:solidFill>
                <a:latin typeface="Aptos"/>
              </a:rPr>
              <a:t>Use an animated tutor interface to improve engagement.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84480" y="9710928"/>
            <a:ext cx="40233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4979D"/>
                </a:solidFill>
                <a:latin typeface="Aptos"/>
              </a:rPr>
              <a:t>EduVerse AI • Mini Project Review-2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510317" cy="10056120"/>
            <a:chOff x="0" y="0"/>
            <a:chExt cx="24680423" cy="13408161"/>
          </a:xfrm>
        </p:grpSpPr>
        <p:sp>
          <p:nvSpPr>
            <p:cNvPr id="4" name="AutoShape 4"/>
            <p:cNvSpPr/>
            <p:nvPr/>
          </p:nvSpPr>
          <p:spPr>
            <a:xfrm>
              <a:off x="25400" y="12574494"/>
              <a:ext cx="2465502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9897885" y="12823398"/>
              <a:ext cx="5545315" cy="58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  <a:spcBef>
                  <a:spcPct val="0"/>
                </a:spcBef>
              </a:pPr>
              <a:r>
                <a:rPr lang="en-US" sz="2606" b="1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www.indiraicem.ac.in</a:t>
              </a:r>
              <a:endParaRPr lang="en-US" sz="26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600200" y="658368"/>
            <a:ext cx="14996159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385E"/>
                </a:solidFill>
                <a:latin typeface="Aptos"/>
              </a:rPr>
              <a:t>Tools Used &amp; Proposed System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207008"/>
            <a:ext cx="14813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26069"/>
                </a:solidFill>
                <a:latin typeface="Aptos"/>
              </a:rPr>
              <a:t>Prototype technology stack and end-to-end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508760"/>
            <a:ext cx="23317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1627632"/>
            <a:ext cx="2103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88989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1938528"/>
            <a:ext cx="2103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React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508760"/>
            <a:ext cx="23317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4488" y="1627632"/>
            <a:ext cx="2103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88989"/>
                </a:solidFill>
                <a:latin typeface="Apto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8" y="1938528"/>
            <a:ext cx="2103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Python / FastAPI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508760"/>
            <a:ext cx="23317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1627632"/>
            <a:ext cx="2103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88989"/>
                </a:solidFill>
                <a:latin typeface="Aptos"/>
              </a:rP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1938528"/>
            <a:ext cx="2103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LLM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508760"/>
            <a:ext cx="23317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1627632"/>
            <a:ext cx="2103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88989"/>
                </a:solidFill>
                <a:latin typeface="Aptos"/>
              </a:rPr>
              <a:t>Documents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1938528"/>
            <a:ext cx="2103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PyMuPDF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0" y="1508760"/>
            <a:ext cx="23317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996928" y="1627632"/>
            <a:ext cx="2103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88989"/>
                </a:solidFill>
                <a:latin typeface="Aptos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996928" y="1938528"/>
            <a:ext cx="2103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SQLite / PostgreSQL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84680" y="1508760"/>
            <a:ext cx="23317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94408" y="1627632"/>
            <a:ext cx="2103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088989"/>
                </a:solidFill>
                <a:latin typeface="Aptos"/>
              </a:rPr>
              <a:t>Versioning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94408" y="1938528"/>
            <a:ext cx="21031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Git / GitHub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2697480"/>
            <a:ext cx="2148840" cy="347472"/>
          </a:xfrm>
          <a:prstGeom prst="roundRect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SYSTEM ARCHITECTURE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3337560"/>
            <a:ext cx="27432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3520440"/>
            <a:ext cx="25603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85E"/>
                </a:solidFill>
                <a:latin typeface="Aptos"/>
              </a:rPr>
              <a:t>STUDENT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3867911"/>
            <a:ext cx="24688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26069"/>
                </a:solidFill>
                <a:latin typeface="Aptos"/>
              </a:rPr>
              <a:t>Login • Upload • Ask • Quiz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0" y="3337560"/>
            <a:ext cx="27432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520440"/>
            <a:ext cx="25603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85E"/>
                </a:solidFill>
                <a:latin typeface="Aptos"/>
              </a:rPr>
              <a:t>WEB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3867911"/>
            <a:ext cx="24688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26069"/>
                </a:solidFill>
                <a:latin typeface="Aptos"/>
              </a:rPr>
              <a:t>React-based interaction layer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3337560"/>
            <a:ext cx="274320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9" y="3520440"/>
            <a:ext cx="25603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85E"/>
                </a:solidFill>
                <a:latin typeface="Aptos"/>
              </a:rPr>
              <a:t>BACKEND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3867911"/>
            <a:ext cx="24688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26069"/>
                </a:solidFill>
                <a:latin typeface="Aptos"/>
              </a:rPr>
              <a:t>Python / FastAPI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338560" y="3337560"/>
            <a:ext cx="2743200" cy="1143000"/>
          </a:xfrm>
          <a:prstGeom prst="roundRect">
            <a:avLst/>
          </a:prstGeom>
          <a:solidFill>
            <a:srgbClr val="EBF8F8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0" y="3520440"/>
            <a:ext cx="25603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85E"/>
                </a:solidFill>
                <a:latin typeface="Aptos"/>
              </a:rPr>
              <a:t>AI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3867911"/>
            <a:ext cx="24688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26069"/>
                </a:solidFill>
                <a:latin typeface="Aptos"/>
              </a:rPr>
              <a:t>LLM-based processing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977639" y="3730752"/>
            <a:ext cx="457200" cy="320040"/>
          </a:xfrm>
          <a:prstGeom prst="right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ight Arrow 40"/>
          <p:cNvSpPr/>
          <p:nvPr/>
        </p:nvSpPr>
        <p:spPr>
          <a:xfrm>
            <a:off x="7360920" y="3730752"/>
            <a:ext cx="457200" cy="320040"/>
          </a:xfrm>
          <a:prstGeom prst="right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10744200" y="3730752"/>
            <a:ext cx="457200" cy="320040"/>
          </a:xfrm>
          <a:prstGeom prst="right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743200" y="5074920"/>
            <a:ext cx="31546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34640" y="5212080"/>
            <a:ext cx="2971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88989"/>
                </a:solidFill>
                <a:latin typeface="Aptos"/>
              </a:rPr>
              <a:t>PDF / STUDY MATERIAL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5550408"/>
            <a:ext cx="2880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26069"/>
                </a:solidFill>
                <a:latin typeface="Aptos"/>
              </a:rPr>
              <a:t>Text extraction &amp; context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92240" y="5074920"/>
            <a:ext cx="31546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79" y="5212080"/>
            <a:ext cx="2971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88989"/>
                </a:solidFill>
                <a:latin typeface="Aptos"/>
              </a:rPr>
              <a:t>Q&amp;A + EXPLANATION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5550408"/>
            <a:ext cx="2880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26069"/>
                </a:solidFill>
                <a:latin typeface="Aptos"/>
              </a:rPr>
              <a:t>Contextual AI response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241280" y="5074920"/>
            <a:ext cx="31546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5212080"/>
            <a:ext cx="2971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88989"/>
                </a:solidFill>
                <a:latin typeface="Aptos"/>
              </a:rPr>
              <a:t>QUIZ GENERATOR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5550408"/>
            <a:ext cx="2880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26069"/>
                </a:solidFill>
                <a:latin typeface="Aptos"/>
              </a:rPr>
              <a:t>Questions + evaluation</a:t>
            </a:r>
          </a:p>
        </p:txBody>
      </p:sp>
      <p:sp>
        <p:nvSpPr>
          <p:cNvPr id="52" name="Down Arrow 51"/>
          <p:cNvSpPr/>
          <p:nvPr/>
        </p:nvSpPr>
        <p:spPr>
          <a:xfrm>
            <a:off x="12527280" y="4526280"/>
            <a:ext cx="411480" cy="457200"/>
          </a:xfrm>
          <a:prstGeom prst="down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34440" y="6629400"/>
            <a:ext cx="144475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385E"/>
                </a:solidFill>
                <a:latin typeface="Aptos"/>
              </a:rPr>
              <a:t>Prototype flow: Student → Interface → Backend → AI → Learning response → Quiz / Feedback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11680" y="7360920"/>
            <a:ext cx="12527280" cy="960120"/>
          </a:xfrm>
          <a:prstGeom prst="roundRect">
            <a:avLst/>
          </a:prstGeom>
          <a:solidFill>
            <a:srgbClr val="F7FCFC"/>
          </a:solidFill>
          <a:ln w="15240">
            <a:solidFill>
              <a:srgbClr val="DCE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40280" y="7571231"/>
            <a:ext cx="12070080" cy="5029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26069"/>
                </a:solidFill>
                <a:latin typeface="Aptos"/>
              </a:rPr>
              <a:t>Implementation status: prototype workflow and interface are being developed; advanced AI, avatar and analytics features remain under development.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984480" y="9710928"/>
            <a:ext cx="40233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4979D"/>
                </a:solidFill>
                <a:latin typeface="Aptos"/>
              </a:rPr>
              <a:t>EduVerse AI • Mini Project Review-2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510317" cy="10056120"/>
            <a:chOff x="0" y="0"/>
            <a:chExt cx="24680423" cy="13408161"/>
          </a:xfrm>
        </p:grpSpPr>
        <p:sp>
          <p:nvSpPr>
            <p:cNvPr id="4" name="AutoShape 4"/>
            <p:cNvSpPr/>
            <p:nvPr/>
          </p:nvSpPr>
          <p:spPr>
            <a:xfrm>
              <a:off x="25400" y="12574494"/>
              <a:ext cx="2465502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9897885" y="12823398"/>
              <a:ext cx="4935715" cy="58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  <a:spcBef>
                  <a:spcPct val="0"/>
                </a:spcBef>
              </a:pPr>
              <a:r>
                <a:rPr lang="en-US" sz="2606" b="1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www.indiraicem.ac.in</a:t>
              </a:r>
              <a:endParaRPr lang="en-US" sz="26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600200" y="658368"/>
            <a:ext cx="14996159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385E"/>
                </a:solidFill>
                <a:latin typeface="Aptos"/>
              </a:rPr>
              <a:t>Implementation &amp;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207008"/>
            <a:ext cx="14813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26069"/>
                </a:solidFill>
                <a:latin typeface="Aptos"/>
              </a:rPr>
              <a:t>Prototype workflow and practical use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508760"/>
            <a:ext cx="1508760" cy="347472"/>
          </a:xfrm>
          <a:prstGeom prst="roundRect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IMPLEMENTATION</a:t>
            </a:r>
          </a:p>
        </p:txBody>
      </p:sp>
      <p:sp>
        <p:nvSpPr>
          <p:cNvPr id="10" name="Oval 9"/>
          <p:cNvSpPr/>
          <p:nvPr/>
        </p:nvSpPr>
        <p:spPr>
          <a:xfrm>
            <a:off x="1234440" y="2057400"/>
            <a:ext cx="502920" cy="50292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2029968"/>
            <a:ext cx="3703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3120" y="2139696"/>
            <a:ext cx="333756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85E"/>
                </a:solidFill>
                <a:latin typeface="Aptos"/>
              </a:rPr>
              <a:t>User Interface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408176" y="2578608"/>
            <a:ext cx="146304" cy="301752"/>
          </a:xfrm>
          <a:prstGeom prst="down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40" y="2971800"/>
            <a:ext cx="502920" cy="50292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2944368"/>
            <a:ext cx="3703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3054096"/>
            <a:ext cx="333756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85E"/>
                </a:solidFill>
                <a:latin typeface="Aptos"/>
              </a:rPr>
              <a:t>Study Material Upload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408176" y="3493008"/>
            <a:ext cx="146304" cy="301752"/>
          </a:xfrm>
          <a:prstGeom prst="down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3886200"/>
            <a:ext cx="502920" cy="50292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3858768"/>
            <a:ext cx="3703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3120" y="3968496"/>
            <a:ext cx="333756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85E"/>
                </a:solidFill>
                <a:latin typeface="Aptos"/>
              </a:rPr>
              <a:t>PDF → Text Extraction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1408176" y="4407408"/>
            <a:ext cx="146304" cy="301752"/>
          </a:xfrm>
          <a:prstGeom prst="down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34440" y="4800600"/>
            <a:ext cx="502920" cy="50292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4773168"/>
            <a:ext cx="3703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4882896"/>
            <a:ext cx="333756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85E"/>
                </a:solidFill>
                <a:latin typeface="Aptos"/>
              </a:rPr>
              <a:t>AI Question Answering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408176" y="5321808"/>
            <a:ext cx="146304" cy="301752"/>
          </a:xfrm>
          <a:prstGeom prst="down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234440" y="5715000"/>
            <a:ext cx="502920" cy="50292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5687568"/>
            <a:ext cx="3703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5797296"/>
            <a:ext cx="333756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85E"/>
                </a:solidFill>
                <a:latin typeface="Aptos"/>
              </a:rPr>
              <a:t>Quiz Generation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408176" y="6236208"/>
            <a:ext cx="146304" cy="301752"/>
          </a:xfrm>
          <a:prstGeom prst="down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234440" y="6629400"/>
            <a:ext cx="502920" cy="50292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20240" y="6601968"/>
            <a:ext cx="3703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6711696"/>
            <a:ext cx="3337560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85E"/>
                </a:solidFill>
                <a:latin typeface="Aptos"/>
              </a:rPr>
              <a:t>Result / Feedback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1508760"/>
            <a:ext cx="1783080" cy="347472"/>
          </a:xfrm>
          <a:prstGeom prst="roundRect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PROTOTYPE UI 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2057400"/>
            <a:ext cx="937260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8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37960" y="2057400"/>
            <a:ext cx="9372600" cy="502920"/>
          </a:xfrm>
          <a:prstGeom prst="rect">
            <a:avLst/>
          </a:prstGeom>
          <a:solidFill>
            <a:srgbClr val="1735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766560" y="22219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95160" y="22219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23760" y="2221992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2185416"/>
            <a:ext cx="2926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ptos"/>
              </a:rPr>
              <a:t>EduVerse AI • Virtual Tutor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12280" y="2788920"/>
            <a:ext cx="1828800" cy="3977639"/>
          </a:xfrm>
          <a:prstGeom prst="roundRect">
            <a:avLst/>
          </a:prstGeom>
          <a:solidFill>
            <a:srgbClr val="EBF8F8"/>
          </a:solidFill>
          <a:ln w="15240">
            <a:solidFill>
              <a:srgbClr val="D7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3017520"/>
            <a:ext cx="13716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385E"/>
                </a:solidFill>
                <a:latin typeface="Aptos"/>
              </a:rPr>
              <a:t>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3566160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26069"/>
                </a:solidFill>
                <a:latin typeface="Aptos"/>
              </a:rPr>
              <a:t>Dashboard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67728" y="4096511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26069"/>
                </a:solidFill>
                <a:latin typeface="Aptos"/>
              </a:rPr>
              <a:t>My Material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67728" y="4626864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26069"/>
                </a:solidFill>
                <a:latin typeface="Aptos"/>
              </a:rPr>
              <a:t>Ask Tutor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67728" y="5157216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26069"/>
                </a:solidFill>
                <a:latin typeface="Aptos"/>
              </a:rPr>
              <a:t>Generate Quiz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67728" y="5687568"/>
            <a:ext cx="15087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26069"/>
                </a:solidFill>
                <a:latin typeface="Aptos"/>
              </a:rPr>
              <a:t>Progress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400" y="2880360"/>
            <a:ext cx="4389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385E"/>
                </a:solidFill>
                <a:latin typeface="Aptos"/>
              </a:rPr>
              <a:t>AI Tutor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400" y="3429000"/>
            <a:ext cx="4480560" cy="749808"/>
          </a:xfrm>
          <a:prstGeom prst="roundRect">
            <a:avLst/>
          </a:prstGeom>
          <a:solidFill>
            <a:srgbClr val="EBF8F8"/>
          </a:solidFill>
          <a:ln w="15240">
            <a:solidFill>
              <a:srgbClr val="EB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3584448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26069"/>
                </a:solidFill>
                <a:latin typeface="Aptos"/>
              </a:rPr>
              <a:t>“Explain this topic in simple terms.”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72600" y="4434840"/>
            <a:ext cx="402336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55480" y="4590288"/>
            <a:ext cx="365760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73553"/>
                </a:solidFill>
                <a:latin typeface="Aptos"/>
              </a:rPr>
              <a:t>AI explanation appears here using the selected study material.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61120" y="5806440"/>
            <a:ext cx="2057400" cy="502920"/>
          </a:xfrm>
          <a:prstGeom prst="roundRect">
            <a:avLst/>
          </a:prstGeom>
          <a:solidFill>
            <a:srgbClr val="088989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5934456"/>
            <a:ext cx="1874519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Ask Question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292840" y="5806440"/>
            <a:ext cx="2057400" cy="502920"/>
          </a:xfrm>
          <a:prstGeom prst="roundRect">
            <a:avLst/>
          </a:prstGeom>
          <a:solidFill>
            <a:srgbClr val="088989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84280" y="5934456"/>
            <a:ext cx="1874519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Aptos"/>
              </a:rPr>
              <a:t>Generate Quiz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97280" y="7543800"/>
            <a:ext cx="1325880" cy="347472"/>
          </a:xfrm>
          <a:prstGeom prst="roundRect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APPLICATIONS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97480" y="7452360"/>
            <a:ext cx="2240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70632" y="7598664"/>
            <a:ext cx="2093976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385E"/>
                </a:solidFill>
                <a:latin typeface="Aptos"/>
              </a:rPr>
              <a:t>Self-learning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212080" y="7452360"/>
            <a:ext cx="2240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285232" y="7598664"/>
            <a:ext cx="2093976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385E"/>
                </a:solidFill>
                <a:latin typeface="Aptos"/>
              </a:rPr>
              <a:t>Exam preparation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26679" y="7452360"/>
            <a:ext cx="2240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99831" y="7598664"/>
            <a:ext cx="2093976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385E"/>
                </a:solidFill>
                <a:latin typeface="Aptos"/>
              </a:rPr>
              <a:t>Concept revision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241280" y="7452360"/>
            <a:ext cx="2240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14432" y="7598664"/>
            <a:ext cx="2093976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385E"/>
                </a:solidFill>
                <a:latin typeface="Aptos"/>
              </a:rPr>
              <a:t>Interactive study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2755880" y="7452360"/>
            <a:ext cx="2240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829032" y="7598664"/>
            <a:ext cx="2093976" cy="347472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385E"/>
                </a:solidFill>
                <a:latin typeface="Aptos"/>
              </a:rPr>
              <a:t>Practice quizzes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" y="8458200"/>
            <a:ext cx="148132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4979D"/>
                </a:solidFill>
                <a:latin typeface="Aptos"/>
              </a:rPr>
              <a:t>UI shown above is a conceptual prototype view, not a final production screenshot.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984480" y="9710928"/>
            <a:ext cx="40233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4979D"/>
                </a:solidFill>
                <a:latin typeface="Aptos"/>
              </a:rPr>
              <a:t>EduVerse AI • Mini Project Review-2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510317" cy="10056120"/>
            <a:chOff x="0" y="0"/>
            <a:chExt cx="24680423" cy="13408161"/>
          </a:xfrm>
        </p:grpSpPr>
        <p:sp>
          <p:nvSpPr>
            <p:cNvPr id="4" name="AutoShape 4"/>
            <p:cNvSpPr/>
            <p:nvPr/>
          </p:nvSpPr>
          <p:spPr>
            <a:xfrm>
              <a:off x="25400" y="12574494"/>
              <a:ext cx="2465502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9652000" y="12823398"/>
              <a:ext cx="4834115" cy="58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  <a:spcBef>
                  <a:spcPct val="0"/>
                </a:spcBef>
              </a:pPr>
              <a:r>
                <a:rPr lang="en-US" sz="2606" b="1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www.indiraicem.ac.in</a:t>
              </a:r>
              <a:endParaRPr lang="en-US" sz="26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600200" y="658368"/>
            <a:ext cx="14996159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385E"/>
                </a:solidFill>
                <a:latin typeface="Aptos"/>
              </a:rPr>
              <a:t>Future Scope, Conclusion &amp;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207008"/>
            <a:ext cx="14813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26069"/>
                </a:solidFill>
                <a:latin typeface="Aptos"/>
              </a:rPr>
              <a:t>Planned enhancements beyond the current prototype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508760"/>
            <a:ext cx="1554480" cy="347472"/>
          </a:xfrm>
          <a:prstGeom prst="roundRect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FUTURE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011680"/>
            <a:ext cx="3383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39" y="2185416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88989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167128"/>
            <a:ext cx="2560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Voice interaction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2011680"/>
            <a:ext cx="3383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185416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88989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167128"/>
            <a:ext cx="2560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3D animated tutor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19" y="2011680"/>
            <a:ext cx="3383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2185416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88989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9" y="2167128"/>
            <a:ext cx="2560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Personalized recommendations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207239" y="2011680"/>
            <a:ext cx="3383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399" y="2185416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88989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47319" y="2167128"/>
            <a:ext cx="2560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Learning analytics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971800"/>
            <a:ext cx="3383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39" y="3145536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88989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127248"/>
            <a:ext cx="2560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Multi-language support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2971800"/>
            <a:ext cx="3383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145536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88989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3127248"/>
            <a:ext cx="2560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Adaptive quiz difficulty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19" y="2971800"/>
            <a:ext cx="3383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3145536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88989"/>
                </a:solidFill>
                <a:latin typeface="Aptos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3999" y="3127248"/>
            <a:ext cx="2560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RAG-based grounding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207239" y="2971800"/>
            <a:ext cx="33832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399" y="3145536"/>
            <a:ext cx="411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088989"/>
                </a:solidFill>
                <a:latin typeface="Aptos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47319" y="3127248"/>
            <a:ext cx="2560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385E"/>
                </a:solidFill>
                <a:latin typeface="Aptos"/>
              </a:rPr>
              <a:t>Mobile application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160520"/>
            <a:ext cx="1417320" cy="347472"/>
          </a:xfrm>
          <a:prstGeom prst="roundRect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4617720"/>
            <a:ext cx="8595360" cy="1828800"/>
          </a:xfrm>
          <a:prstGeom prst="roundRect">
            <a:avLst/>
          </a:prstGeom>
          <a:solidFill>
            <a:srgbClr val="EBF8F8"/>
          </a:solidFill>
          <a:ln w="15240">
            <a:solidFill>
              <a:srgbClr val="08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4892040"/>
            <a:ext cx="8046720" cy="12344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73553"/>
                </a:solidFill>
                <a:latin typeface="Aptos"/>
              </a:rPr>
              <a:t>EduVerse AI demonstrates how generative AI can be integrated with educational content to create an interactive virtual learning assistant. The prototype brings document-based learning, contextual Q&amp;A, explanation generation and quiz-based self-assessment into a unified workflow.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58400" y="4160520"/>
            <a:ext cx="1417320" cy="347472"/>
          </a:xfrm>
          <a:prstGeom prst="roundRect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REFERENCES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617720"/>
            <a:ext cx="6949440" cy="1828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87000" y="4800600"/>
            <a:ext cx="6400800" cy="1371600"/>
          </a:xfrm>
          <a:prstGeom prst="rect">
            <a:avLst/>
          </a:prstGeom>
          <a:noFill/>
        </p:spPr>
        <p:txBody>
          <a:bodyPr wrap="none" lIns="54864" rIns="54864" tIns="27432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6069"/>
                </a:solidFill>
                <a:latin typeface="Aptos"/>
              </a:defRPr>
            </a:pPr>
            <a:r>
              <a:t>• React documentation</a:t>
            </a:r>
          </a:p>
          <a:p>
            <a:pPr>
              <a:spcAft>
                <a:spcPts val="400"/>
              </a:spcAft>
              <a:defRPr sz="1100">
                <a:solidFill>
                  <a:srgbClr val="526069"/>
                </a:solidFill>
                <a:latin typeface="Aptos"/>
              </a:defRPr>
            </a:pPr>
            <a:r>
              <a:t>• FastAPI documentation</a:t>
            </a:r>
          </a:p>
          <a:p>
            <a:pPr>
              <a:spcAft>
                <a:spcPts val="400"/>
              </a:spcAft>
              <a:defRPr sz="1100">
                <a:solidFill>
                  <a:srgbClr val="526069"/>
                </a:solidFill>
                <a:latin typeface="Aptos"/>
              </a:defRPr>
            </a:pPr>
            <a:r>
              <a:t>• PyMuPDF documentation</a:t>
            </a:r>
          </a:p>
          <a:p>
            <a:pPr>
              <a:spcAft>
                <a:spcPts val="400"/>
              </a:spcAft>
              <a:defRPr sz="1100">
                <a:solidFill>
                  <a:srgbClr val="526069"/>
                </a:solidFill>
                <a:latin typeface="Aptos"/>
              </a:defRPr>
            </a:pPr>
            <a:r>
              <a:t>• LLM API documentation</a:t>
            </a:r>
          </a:p>
          <a:p>
            <a:pPr>
              <a:spcAft>
                <a:spcPts val="400"/>
              </a:spcAft>
              <a:defRPr sz="1100">
                <a:solidFill>
                  <a:srgbClr val="526069"/>
                </a:solidFill>
                <a:latin typeface="Aptos"/>
              </a:defRPr>
            </a:pPr>
            <a:r>
              <a:t>• Three.js documentation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6903720"/>
            <a:ext cx="15910559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88989"/>
                </a:solidFill>
                <a:latin typeface="Aptos"/>
              </a:rPr>
              <a:t>Future items are planned enhancements; they are not presented as completed features.</a:t>
            </a:r>
          </a:p>
        </p:txBody>
      </p:sp>
      <p:sp>
        <p:nvSpPr>
          <p:cNvPr id="41" name="Oval 40"/>
          <p:cNvSpPr/>
          <p:nvPr/>
        </p:nvSpPr>
        <p:spPr>
          <a:xfrm>
            <a:off x="2011680" y="7909560"/>
            <a:ext cx="457200" cy="45720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8366760"/>
            <a:ext cx="1737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385E"/>
                </a:solidFill>
                <a:latin typeface="Aptos"/>
              </a:rPr>
              <a:t>Prototype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2514600" y="8037575"/>
            <a:ext cx="2834640" cy="182880"/>
          </a:xfrm>
          <a:prstGeom prst="right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669280" y="7909560"/>
            <a:ext cx="457200" cy="45720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0" y="8366760"/>
            <a:ext cx="1737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385E"/>
                </a:solidFill>
                <a:latin typeface="Aptos"/>
              </a:rPr>
              <a:t>Integration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6172200" y="8037575"/>
            <a:ext cx="2834640" cy="182880"/>
          </a:xfrm>
          <a:prstGeom prst="right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6880" y="7909560"/>
            <a:ext cx="457200" cy="45720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0" y="8366760"/>
            <a:ext cx="1737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385E"/>
                </a:solidFill>
                <a:latin typeface="Aptos"/>
              </a:rPr>
              <a:t>Testing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9829800" y="8037575"/>
            <a:ext cx="2834640" cy="182880"/>
          </a:xfrm>
          <a:prstGeom prst="rightArrow">
            <a:avLst/>
          </a:prstGeom>
          <a:solidFill>
            <a:srgbClr val="36A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2984480" y="7909560"/>
            <a:ext cx="457200" cy="457200"/>
          </a:xfrm>
          <a:prstGeom prst="ellipse">
            <a:avLst/>
          </a:prstGeom>
          <a:solidFill>
            <a:srgbClr val="08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44400" y="8366760"/>
            <a:ext cx="1737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E385E"/>
                </a:solidFill>
                <a:latin typeface="Aptos"/>
              </a:rPr>
              <a:t>Enhancement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984480" y="9710928"/>
            <a:ext cx="40233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84979D"/>
                </a:solidFill>
                <a:latin typeface="Aptos"/>
              </a:rPr>
              <a:t>EduVerse AI • Mini Project Review-2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-3937539" y="-5090168"/>
            <a:ext cx="25666916" cy="23226537"/>
            <a:chOff x="0" y="0"/>
            <a:chExt cx="34222554" cy="30968716"/>
          </a:xfrm>
        </p:grpSpPr>
        <p:sp>
          <p:nvSpPr>
            <p:cNvPr id="4" name="Freeform 4"/>
            <p:cNvSpPr/>
            <p:nvPr/>
          </p:nvSpPr>
          <p:spPr>
            <a:xfrm>
              <a:off x="5250052" y="6786891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5" name="Freeform 5"/>
            <p:cNvSpPr/>
            <p:nvPr/>
          </p:nvSpPr>
          <p:spPr>
            <a:xfrm rot="-2484000" flipH="1">
              <a:off x="14206673" y="19325584"/>
              <a:ext cx="20818662" cy="5438875"/>
            </a:xfrm>
            <a:custGeom>
              <a:avLst/>
              <a:gdLst/>
              <a:ahLst/>
              <a:cxnLst/>
              <a:rect l="l" t="t" r="r" b="b"/>
              <a:pathLst>
                <a:path w="20818662" h="5438875">
                  <a:moveTo>
                    <a:pt x="20818661" y="0"/>
                  </a:moveTo>
                  <a:lnTo>
                    <a:pt x="0" y="0"/>
                  </a:lnTo>
                  <a:lnTo>
                    <a:pt x="0" y="5438876"/>
                  </a:lnTo>
                  <a:lnTo>
                    <a:pt x="20818661" y="5438876"/>
                  </a:lnTo>
                  <a:lnTo>
                    <a:pt x="20818661" y="0"/>
                  </a:lnTo>
                  <a:close/>
                </a:path>
              </a:pathLst>
            </a:custGeom>
            <a:blipFill>
              <a:blip r:embed="rId4">
                <a:alphaModFix amt="4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grpSp>
          <p:nvGrpSpPr>
            <p:cNvPr id="6" name="Group 6"/>
            <p:cNvGrpSpPr/>
            <p:nvPr/>
          </p:nvGrpSpPr>
          <p:grpSpPr>
            <a:xfrm>
              <a:off x="2756329" y="4715493"/>
              <a:ext cx="15211479" cy="16203031"/>
              <a:chOff x="0" y="0"/>
              <a:chExt cx="5325529" cy="5672671"/>
            </a:xfrm>
          </p:grpSpPr>
          <p:sp>
            <p:nvSpPr>
              <p:cNvPr id="7" name="Freeform 7"/>
              <p:cNvSpPr/>
              <p:nvPr/>
            </p:nvSpPr>
            <p:spPr>
              <a:xfrm flipH="1">
                <a:off x="0" y="0"/>
                <a:ext cx="5325491" cy="5672709"/>
              </a:xfrm>
              <a:custGeom>
                <a:avLst/>
                <a:gdLst/>
                <a:ahLst/>
                <a:cxnLst/>
                <a:rect l="l" t="t" r="r" b="b"/>
                <a:pathLst>
                  <a:path w="5325491" h="5672709">
                    <a:moveTo>
                      <a:pt x="5325491" y="0"/>
                    </a:moveTo>
                    <a:lnTo>
                      <a:pt x="5325491" y="5672709"/>
                    </a:lnTo>
                    <a:lnTo>
                      <a:pt x="0" y="5672709"/>
                    </a:lnTo>
                    <a:lnTo>
                      <a:pt x="5325491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125207" r="-50449" b="-45566"/>
                </a:stretch>
              </a:blipFill>
            </p:spPr>
            <p:txBody>
              <a:bodyPr/>
              <a:p/>
            </p:txBody>
          </p:sp>
        </p:grpSp>
        <p:grpSp>
          <p:nvGrpSpPr>
            <p:cNvPr id="8" name="Group 8"/>
            <p:cNvGrpSpPr/>
            <p:nvPr/>
          </p:nvGrpSpPr>
          <p:grpSpPr>
            <a:xfrm rot="-2612396">
              <a:off x="13421562" y="2778328"/>
              <a:ext cx="1721466" cy="24412220"/>
              <a:chOff x="0" y="0"/>
              <a:chExt cx="340043" cy="482216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0043" cy="4822167"/>
              </a:xfrm>
              <a:custGeom>
                <a:avLst/>
                <a:gdLst/>
                <a:ahLst/>
                <a:cxnLst/>
                <a:rect l="l" t="t" r="r" b="b"/>
                <a:pathLst>
                  <a:path w="340043" h="4822167">
                    <a:moveTo>
                      <a:pt x="0" y="0"/>
                    </a:moveTo>
                    <a:lnTo>
                      <a:pt x="340043" y="0"/>
                    </a:lnTo>
                    <a:lnTo>
                      <a:pt x="340043" y="4822167"/>
                    </a:lnTo>
                    <a:lnTo>
                      <a:pt x="0" y="482216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B5285">
                      <a:alpha val="100000"/>
                    </a:srgbClr>
                  </a:gs>
                  <a:gs pos="50000">
                    <a:srgbClr val="0B5285">
                      <a:alpha val="71000"/>
                    </a:srgbClr>
                  </a:gs>
                  <a:gs pos="100000">
                    <a:srgbClr val="0B51AE">
                      <a:alpha val="0"/>
                    </a:srgbClr>
                  </a:gs>
                </a:gsLst>
                <a:lin ang="5400000"/>
              </a:gradFill>
            </p:spPr>
            <p:txBody>
              <a:bodyPr/>
              <a:p/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340043" cy="4860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 flipH="1">
              <a:off x="8822842" y="9360217"/>
              <a:ext cx="8065898" cy="8569347"/>
            </a:xfrm>
            <a:custGeom>
              <a:avLst/>
              <a:gdLst/>
              <a:ahLst/>
              <a:cxnLst/>
              <a:rect l="l" t="t" r="r" b="b"/>
              <a:pathLst>
                <a:path w="8065898" h="8569347">
                  <a:moveTo>
                    <a:pt x="8065898" y="0"/>
                  </a:moveTo>
                  <a:lnTo>
                    <a:pt x="0" y="0"/>
                  </a:lnTo>
                  <a:lnTo>
                    <a:pt x="0" y="8569347"/>
                  </a:lnTo>
                  <a:lnTo>
                    <a:pt x="8065898" y="8569347"/>
                  </a:lnTo>
                  <a:lnTo>
                    <a:pt x="8065898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grpSp>
          <p:nvGrpSpPr>
            <p:cNvPr id="12" name="Group 12"/>
            <p:cNvGrpSpPr/>
            <p:nvPr/>
          </p:nvGrpSpPr>
          <p:grpSpPr>
            <a:xfrm>
              <a:off x="9826303" y="10615403"/>
              <a:ext cx="6058976" cy="6058976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3454" t="-14463" r="-18163" b="-17154"/>
                </a:stretch>
              </a:blipFill>
            </p:spPr>
            <p:txBody>
              <a:bodyPr/>
              <a:p/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7193851" y="8395137"/>
              <a:ext cx="499697" cy="576851"/>
            </a:xfrm>
            <a:custGeom>
              <a:avLst/>
              <a:gdLst/>
              <a:ahLst/>
              <a:cxnLst/>
              <a:rect l="l" t="t" r="r" b="b"/>
              <a:pathLst>
                <a:path w="499697" h="576851">
                  <a:moveTo>
                    <a:pt x="0" y="0"/>
                  </a:moveTo>
                  <a:lnTo>
                    <a:pt x="499697" y="0"/>
                  </a:lnTo>
                  <a:lnTo>
                    <a:pt x="499697" y="576851"/>
                  </a:lnTo>
                  <a:lnTo>
                    <a:pt x="0" y="576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15" name="Freeform 15"/>
            <p:cNvSpPr/>
            <p:nvPr/>
          </p:nvSpPr>
          <p:spPr>
            <a:xfrm>
              <a:off x="15009453" y="8055653"/>
              <a:ext cx="875826" cy="875826"/>
            </a:xfrm>
            <a:custGeom>
              <a:avLst/>
              <a:gdLst/>
              <a:ahLst/>
              <a:cxnLst/>
              <a:rect l="l" t="t" r="r" b="b"/>
              <a:pathLst>
                <a:path w="875826" h="875826">
                  <a:moveTo>
                    <a:pt x="0" y="0"/>
                  </a:moveTo>
                  <a:lnTo>
                    <a:pt x="875826" y="0"/>
                  </a:lnTo>
                  <a:lnTo>
                    <a:pt x="875826" y="875827"/>
                  </a:lnTo>
                  <a:lnTo>
                    <a:pt x="0" y="87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grpSp>
          <p:nvGrpSpPr>
            <p:cNvPr id="16" name="Group 16"/>
            <p:cNvGrpSpPr/>
            <p:nvPr/>
          </p:nvGrpSpPr>
          <p:grpSpPr>
            <a:xfrm rot="-8100000">
              <a:off x="3765814" y="230682"/>
              <a:ext cx="6113263" cy="13183526"/>
              <a:chOff x="0" y="0"/>
              <a:chExt cx="1207558" cy="260415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07558" cy="2604153"/>
              </a:xfrm>
              <a:custGeom>
                <a:avLst/>
                <a:gdLst/>
                <a:ahLst/>
                <a:cxnLst/>
                <a:rect l="l" t="t" r="r" b="b"/>
                <a:pathLst>
                  <a:path w="1207558" h="2604153">
                    <a:moveTo>
                      <a:pt x="0" y="0"/>
                    </a:moveTo>
                    <a:lnTo>
                      <a:pt x="1207558" y="0"/>
                    </a:lnTo>
                    <a:lnTo>
                      <a:pt x="1207558" y="2604153"/>
                    </a:lnTo>
                    <a:lnTo>
                      <a:pt x="0" y="260415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B5285">
                      <a:alpha val="100000"/>
                    </a:srgbClr>
                  </a:gs>
                  <a:gs pos="50000">
                    <a:srgbClr val="0B5285">
                      <a:alpha val="71000"/>
                    </a:srgbClr>
                  </a:gs>
                  <a:gs pos="100000">
                    <a:srgbClr val="0B51AE">
                      <a:alpha val="0"/>
                    </a:srgbClr>
                  </a:gs>
                </a:gsLst>
                <a:lin ang="5400000"/>
              </a:gradFill>
            </p:spPr>
            <p:txBody>
              <a:bodyPr/>
              <a:p/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07558" cy="26422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8100000">
              <a:off x="4515894" y="1950513"/>
              <a:ext cx="4211514" cy="8649573"/>
              <a:chOff x="0" y="0"/>
              <a:chExt cx="831904" cy="170855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31904" cy="1708558"/>
              </a:xfrm>
              <a:custGeom>
                <a:avLst/>
                <a:gdLst/>
                <a:ahLst/>
                <a:cxnLst/>
                <a:rect l="l" t="t" r="r" b="b"/>
                <a:pathLst>
                  <a:path w="831904" h="1708558">
                    <a:moveTo>
                      <a:pt x="0" y="0"/>
                    </a:moveTo>
                    <a:lnTo>
                      <a:pt x="831904" y="0"/>
                    </a:lnTo>
                    <a:lnTo>
                      <a:pt x="831904" y="1708558"/>
                    </a:lnTo>
                    <a:lnTo>
                      <a:pt x="0" y="170855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71000"/>
                    </a:srgbClr>
                  </a:gs>
                  <a:gs pos="100000">
                    <a:srgbClr val="0B51AE">
                      <a:alpha val="0"/>
                    </a:srgbClr>
                  </a:gs>
                </a:gsLst>
                <a:lin ang="5400000"/>
              </a:gradFill>
            </p:spPr>
            <p:txBody>
              <a:bodyPr/>
              <a:p/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831904" cy="17466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707614" y="9360217"/>
              <a:ext cx="3461118" cy="3456792"/>
            </a:xfrm>
            <a:custGeom>
              <a:avLst/>
              <a:gdLst/>
              <a:ahLst/>
              <a:cxnLst/>
              <a:rect l="l" t="t" r="r" b="b"/>
              <a:pathLst>
                <a:path w="3461118" h="3456792">
                  <a:moveTo>
                    <a:pt x="0" y="0"/>
                  </a:moveTo>
                  <a:lnTo>
                    <a:pt x="3461119" y="0"/>
                  </a:lnTo>
                  <a:lnTo>
                    <a:pt x="3461119" y="3456792"/>
                  </a:lnTo>
                  <a:lnTo>
                    <a:pt x="0" y="3456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23" name="Freeform 23"/>
            <p:cNvSpPr/>
            <p:nvPr/>
          </p:nvSpPr>
          <p:spPr>
            <a:xfrm>
              <a:off x="13980933" y="14882928"/>
              <a:ext cx="3461118" cy="3456792"/>
            </a:xfrm>
            <a:custGeom>
              <a:avLst/>
              <a:gdLst/>
              <a:ahLst/>
              <a:cxnLst/>
              <a:rect l="l" t="t" r="r" b="b"/>
              <a:pathLst>
                <a:path w="3461118" h="3456792">
                  <a:moveTo>
                    <a:pt x="0" y="0"/>
                  </a:moveTo>
                  <a:lnTo>
                    <a:pt x="3461119" y="0"/>
                  </a:lnTo>
                  <a:lnTo>
                    <a:pt x="3461119" y="3456792"/>
                  </a:lnTo>
                  <a:lnTo>
                    <a:pt x="0" y="3456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24" name="Freeform 24"/>
            <p:cNvSpPr/>
            <p:nvPr/>
          </p:nvSpPr>
          <p:spPr>
            <a:xfrm>
              <a:off x="18526608" y="13053045"/>
              <a:ext cx="1296020" cy="948872"/>
            </a:xfrm>
            <a:custGeom>
              <a:avLst/>
              <a:gdLst/>
              <a:ahLst/>
              <a:cxnLst/>
              <a:rect l="l" t="t" r="r" b="b"/>
              <a:pathLst>
                <a:path w="1296020" h="948872">
                  <a:moveTo>
                    <a:pt x="0" y="0"/>
                  </a:moveTo>
                  <a:lnTo>
                    <a:pt x="1296020" y="0"/>
                  </a:lnTo>
                  <a:lnTo>
                    <a:pt x="1296020" y="948871"/>
                  </a:lnTo>
                  <a:lnTo>
                    <a:pt x="0" y="948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25" name="Freeform 25"/>
            <p:cNvSpPr/>
            <p:nvPr/>
          </p:nvSpPr>
          <p:spPr>
            <a:xfrm>
              <a:off x="18526608" y="14904705"/>
              <a:ext cx="1329417" cy="948872"/>
            </a:xfrm>
            <a:custGeom>
              <a:avLst/>
              <a:gdLst/>
              <a:ahLst/>
              <a:cxnLst/>
              <a:rect l="l" t="t" r="r" b="b"/>
              <a:pathLst>
                <a:path w="1329417" h="948872">
                  <a:moveTo>
                    <a:pt x="0" y="0"/>
                  </a:moveTo>
                  <a:lnTo>
                    <a:pt x="1329418" y="0"/>
                  </a:lnTo>
                  <a:lnTo>
                    <a:pt x="1329418" y="948871"/>
                  </a:lnTo>
                  <a:lnTo>
                    <a:pt x="0" y="948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18526608" y="7723285"/>
              <a:ext cx="10009370" cy="2139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2119"/>
                </a:lnSpc>
                <a:spcBef>
                  <a:spcPct val="0"/>
                </a:spcBef>
              </a:pPr>
              <a:r>
                <a:rPr lang="en-US" sz="10099" b="1">
                  <a:solidFill>
                    <a:srgbClr val="213458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Thank you!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526608" y="10437910"/>
              <a:ext cx="5116615" cy="823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25"/>
                </a:lnSpc>
              </a:pPr>
              <a:r>
                <a:rPr lang="en-US" sz="4020" b="1">
                  <a:solidFill>
                    <a:srgbClr val="380F58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GET IN TOUCH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526608" y="11251765"/>
              <a:ext cx="5116615" cy="823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25"/>
                </a:lnSpc>
              </a:pPr>
              <a:r>
                <a:rPr lang="en-US" sz="4020" b="1">
                  <a:solidFill>
                    <a:srgbClr val="213458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WITH US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382086" y="13024470"/>
              <a:ext cx="4272861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3000">
                  <a:solidFill>
                    <a:srgbClr val="21345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Project Team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382086" y="14825330"/>
              <a:ext cx="4272861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3000">
                  <a:solidFill>
                    <a:srgbClr val="263F6B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Mentor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382086" y="13564855"/>
              <a:ext cx="3656422" cy="6286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13458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/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382086" y="15365715"/>
              <a:ext cx="7007749" cy="6286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13458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/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9784080" y="7818120"/>
            <a:ext cx="6400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1E385E"/>
                </a:solidFill>
                <a:latin typeface="Aptos"/>
              </a:rPr>
              <a:t>EduVerse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8247888"/>
            <a:ext cx="6400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26069"/>
                </a:solidFill>
                <a:latin typeface="Aptos"/>
              </a:rPr>
              <a:t>An Animated Virtual Tutor for Personalized 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7315200"/>
            <a:ext cx="45720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1">
                <a:solidFill>
                  <a:srgbClr val="1E385E"/>
                </a:solidFill>
                <a:latin typeface="Aptos"/>
              </a:rPr>
              <a:t>Aryan Shinde • Huzaifa Sheikh • Sufiyan Surve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8138160"/>
            <a:ext cx="4572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E385E"/>
                </a:solidFill>
                <a:latin typeface="Aptos"/>
              </a:rPr>
              <a:t>Prof. Monika Patil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heading</dc:title>
  <cp:revision>1</cp:revision>
  <dcterms:created xsi:type="dcterms:W3CDTF">2006-08-16T00:00:00Z</dcterms:created>
  <dcterms:modified xsi:type="dcterms:W3CDTF">2025-10-03T06:53:57Z</dcterms:modified>
  <dc:identifier>DAGxugl7tc4</dc:identifier>
</cp:coreProperties>
</file>