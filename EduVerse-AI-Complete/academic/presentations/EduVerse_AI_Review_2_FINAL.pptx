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12.svg" ContentType="image/svg+xml"/>
  <Override PartName="/ppt/media/image14.svg" ContentType="image/svg+xml"/>
  <Override PartName="/ppt/media/image16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</p:sldIdLst>
  <p:sldSz cx="18288000" cy="10287000"/>
  <p:notesSz cx="6858000" cy="9144000"/>
  <p:embeddedFontLst>
    <p:embeddedFont>
      <p:font typeface="Canva Sans Bold" panose="020B0604020202020204" charset="0"/>
      <p:regular r:id="rId10"/>
      <p:bold r:id="rId11"/>
    </p:embeddedFont>
    <p:embeddedFont>
      <p:font typeface="Poppins Semi-Bold" panose="020B0604020202020204" charset="0"/>
      <p:regular r:id="rId12"/>
      <p:bold r:id="rId13"/>
      <p:italic r:id="rId14"/>
      <p:boldItalic r:id="rId15"/>
    </p:embeddedFont>
    <p:embeddedFont>
      <p:font typeface="Roboto Condensed" panose="020B0604020202020204" charset="0"/>
      <p:regular r:id="rId16"/>
      <p:bold r:id="rId17"/>
      <p:italic r:id="rId18"/>
      <p:boldItalic r:id="rId19"/>
    </p:embeddedFont>
    <p:embeddedFont>
      <p:font typeface="Roboto Condensed Bold" panose="020B0604020202020204" charset="0"/>
      <p:regular r:id="rId20"/>
      <p:bold r:id="rId21"/>
      <p:italic r:id="rId22"/>
      <p:boldItalic r:id="rId23"/>
    </p:embeddedFont>
    <p:embeddedFont>
      <p:font typeface="TT Norms" panose="020B0604020202020204" charset="0"/>
      <p:regular r:id="rId24"/>
      <p:bold r:id="rId25"/>
      <p:italic r:id="rId26"/>
      <p:boldItalic r:id="rId27"/>
    </p:embeddedFont>
    <p:embeddedFont>
      <p:font typeface="TT Norms Bold" panose="020B0604020202020204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6D4EF-B951-2681-51D7-F4B5ADC6C7DA}" v="193" dt="2025-10-03T06:53:45.477"/>
    <p1510:client id="{22B00D12-4B4A-C588-8DEC-14D20710A257}" v="2" dt="2025-10-03T06:51:22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font" Target="fonts/font13.fntdata"/><Relationship Id="rId23" Type="http://schemas.openxmlformats.org/officeDocument/2006/relationships/font" Target="fonts/font14.fntdata"/><Relationship Id="rId24" Type="http://schemas.openxmlformats.org/officeDocument/2006/relationships/font" Target="fonts/font15.fntdata"/><Relationship Id="rId25" Type="http://schemas.openxmlformats.org/officeDocument/2006/relationships/font" Target="fonts/font16.fntdata"/><Relationship Id="rId26" Type="http://schemas.openxmlformats.org/officeDocument/2006/relationships/font" Target="fonts/font17.fntdata"/><Relationship Id="rId27" Type="http://schemas.openxmlformats.org/officeDocument/2006/relationships/font" Target="fonts/font18.fntdata"/><Relationship Id="rId28" Type="http://schemas.openxmlformats.org/officeDocument/2006/relationships/font" Target="fonts/font19.fntdata"/><Relationship Id="rId29" Type="http://schemas.openxmlformats.org/officeDocument/2006/relationships/font" Target="fonts/font20.fntdata"/><Relationship Id="rId30" Type="http://schemas.openxmlformats.org/officeDocument/2006/relationships/font" Target="fonts/font21.fntdata"/><Relationship Id="rId31" Type="http://schemas.openxmlformats.org/officeDocument/2006/relationships/font" Target="fonts/font2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ika Patil" userId="S::monikapatil@indiraicem.ac.in::ccfa4fd1-6a32-46a4-8c14-a790439a2639" providerId="AD" clId="Web-{22B00D12-4B4A-C588-8DEC-14D20710A257}"/>
    <pc:docChg chg="modSld">
      <pc:chgData name="Monika Patil" userId="S::monikapatil@indiraicem.ac.in::ccfa4fd1-6a32-46a4-8c14-a790439a2639" providerId="AD" clId="Web-{22B00D12-4B4A-C588-8DEC-14D20710A257}" dt="2025-10-03T06:51:22.746" v="1"/>
      <pc:docMkLst>
        <pc:docMk/>
      </pc:docMkLst>
      <pc:sldChg chg="modSp">
        <pc:chgData name="Monika Patil" userId="S::monikapatil@indiraicem.ac.in::ccfa4fd1-6a32-46a4-8c14-a790439a2639" providerId="AD" clId="Web-{22B00D12-4B4A-C588-8DEC-14D20710A257}" dt="2025-10-03T06:51:22.746" v="1"/>
        <pc:sldMkLst>
          <pc:docMk/>
          <pc:sldMk cId="0" sldId="256"/>
        </pc:sldMkLst>
        <pc:spChg chg="mod">
          <ac:chgData name="Monika Patil" userId="S::monikapatil@indiraicem.ac.in::ccfa4fd1-6a32-46a4-8c14-a790439a2639" providerId="AD" clId="Web-{22B00D12-4B4A-C588-8DEC-14D20710A257}" dt="2025-10-03T06:51:22.746" v="1"/>
          <ac:spMkLst>
            <pc:docMk/>
            <pc:sldMk cId="0" sldId="256"/>
            <ac:spMk id="13" creationId="{14DF4F62-048E-218D-3881-AE7211FC5CDE}"/>
          </ac:spMkLst>
        </pc:spChg>
      </pc:sldChg>
    </pc:docChg>
  </pc:docChgLst>
  <pc:docChgLst>
    <pc:chgData name="Monika Patil" userId="S::monikapatil@indiraicem.ac.in::ccfa4fd1-6a32-46a4-8c14-a790439a2639" providerId="AD" clId="Web-{0D95681A-CCFC-6BBB-BC8E-9A521ECD0F2D}"/>
    <pc:docChg chg="modSld">
      <pc:chgData name="Monika Patil" userId="S::monikapatil@indiraicem.ac.in::ccfa4fd1-6a32-46a4-8c14-a790439a2639" providerId="AD" clId="Web-{0D95681A-CCFC-6BBB-BC8E-9A521ECD0F2D}" dt="2025-09-30T05:30:44.253" v="51" actId="20577"/>
      <pc:docMkLst>
        <pc:docMk/>
      </pc:docMkLst>
      <pc:sldChg chg="addSp delSp modSp">
        <pc:chgData name="Monika Patil" userId="S::monikapatil@indiraicem.ac.in::ccfa4fd1-6a32-46a4-8c14-a790439a2639" providerId="AD" clId="Web-{0D95681A-CCFC-6BBB-BC8E-9A521ECD0F2D}" dt="2025-09-30T05:30:44.253" v="51" actId="20577"/>
        <pc:sldMkLst>
          <pc:docMk/>
          <pc:sldMk cId="0" sldId="256"/>
        </pc:sldMkLst>
        <pc:spChg chg="add del">
          <ac:chgData name="Monika Patil" userId="S::monikapatil@indiraicem.ac.in::ccfa4fd1-6a32-46a4-8c14-a790439a2639" providerId="AD" clId="Web-{0D95681A-CCFC-6BBB-BC8E-9A521ECD0F2D}" dt="2025-09-30T05:17:54.589" v="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onika Patil" userId="S::monikapatil@indiraicem.ac.in::ccfa4fd1-6a32-46a4-8c14-a790439a2639" providerId="AD" clId="Web-{0D95681A-CCFC-6BBB-BC8E-9A521ECD0F2D}" dt="2025-09-30T05:17:39.198" v="1" actId="20577"/>
          <ac:spMkLst>
            <pc:docMk/>
            <pc:sldMk cId="0" sldId="256"/>
            <ac:spMk id="9" creationId="{00000000-0000-0000-0000-000000000000}"/>
          </ac:spMkLst>
        </pc:spChg>
        <pc:spChg chg="add mod">
          <ac:chgData name="Monika Patil" userId="S::monikapatil@indiraicem.ac.in::ccfa4fd1-6a32-46a4-8c14-a790439a2639" providerId="AD" clId="Web-{0D95681A-CCFC-6BBB-BC8E-9A521ECD0F2D}" dt="2025-09-30T05:20:21.920" v="26" actId="20577"/>
          <ac:spMkLst>
            <pc:docMk/>
            <pc:sldMk cId="0" sldId="256"/>
            <ac:spMk id="11" creationId="{CC2CF3C5-0088-1D8E-8C5C-6474190FE5A0}"/>
          </ac:spMkLst>
        </pc:spChg>
        <pc:spChg chg="add mod">
          <ac:chgData name="Monika Patil" userId="S::monikapatil@indiraicem.ac.in::ccfa4fd1-6a32-46a4-8c14-a790439a2639" providerId="AD" clId="Web-{0D95681A-CCFC-6BBB-BC8E-9A521ECD0F2D}" dt="2025-09-30T05:20:10.560" v="24" actId="20577"/>
          <ac:spMkLst>
            <pc:docMk/>
            <pc:sldMk cId="0" sldId="256"/>
            <ac:spMk id="12" creationId="{D395A0CC-0B3A-7D55-D8C8-BC56534BC6BE}"/>
          </ac:spMkLst>
        </pc:spChg>
        <pc:spChg chg="add mod">
          <ac:chgData name="Monika Patil" userId="S::monikapatil@indiraicem.ac.in::ccfa4fd1-6a32-46a4-8c14-a790439a2639" providerId="AD" clId="Web-{0D95681A-CCFC-6BBB-BC8E-9A521ECD0F2D}" dt="2025-09-30T05:30:44.253" v="51" actId="20577"/>
          <ac:spMkLst>
            <pc:docMk/>
            <pc:sldMk cId="0" sldId="256"/>
            <ac:spMk id="13" creationId="{14DF4F62-048E-218D-3881-AE7211FC5CDE}"/>
          </ac:spMkLst>
        </pc:spChg>
        <pc:grpChg chg="mod">
          <ac:chgData name="Monika Patil" userId="S::monikapatil@indiraicem.ac.in::ccfa4fd1-6a32-46a4-8c14-a790439a2639" providerId="AD" clId="Web-{0D95681A-CCFC-6BBB-BC8E-9A521ECD0F2D}" dt="2025-09-30T05:18:04.151" v="7" actId="1076"/>
          <ac:grpSpMkLst>
            <pc:docMk/>
            <pc:sldMk cId="0" sldId="256"/>
            <ac:grpSpMk id="2" creationId="{00000000-0000-0000-0000-000000000000}"/>
          </ac:grpSpMkLst>
        </pc:grpChg>
      </pc:sldChg>
    </pc:docChg>
  </pc:docChgLst>
  <pc:docChgLst>
    <pc:chgData name="Monika Patil" userId="S::monikapatil@indiraicem.ac.in::ccfa4fd1-6a32-46a4-8c14-a790439a2639" providerId="AD" clId="Web-{1CB6D4EF-B951-2681-51D7-F4B5ADC6C7DA}"/>
    <pc:docChg chg="delSld modSld">
      <pc:chgData name="Monika Patil" userId="S::monikapatil@indiraicem.ac.in::ccfa4fd1-6a32-46a4-8c14-a790439a2639" providerId="AD" clId="Web-{1CB6D4EF-B951-2681-51D7-F4B5ADC6C7DA}" dt="2025-10-03T06:53:45.477" v="120" actId="20577"/>
      <pc:docMkLst>
        <pc:docMk/>
      </pc:docMkLst>
      <pc:sldChg chg="modSp">
        <pc:chgData name="Monika Patil" userId="S::monikapatil@indiraicem.ac.in::ccfa4fd1-6a32-46a4-8c14-a790439a2639" providerId="AD" clId="Web-{1CB6D4EF-B951-2681-51D7-F4B5ADC6C7DA}" dt="2025-10-03T04:52:44.288" v="14" actId="1076"/>
        <pc:sldMkLst>
          <pc:docMk/>
          <pc:sldMk cId="0" sldId="256"/>
        </pc:sldMkLst>
        <pc:spChg chg="mod">
          <ac:chgData name="Monika Patil" userId="S::monikapatil@indiraicem.ac.in::ccfa4fd1-6a32-46a4-8c14-a790439a2639" providerId="AD" clId="Web-{1CB6D4EF-B951-2681-51D7-F4B5ADC6C7DA}" dt="2025-10-03T04:52:44.288" v="14" actId="1076"/>
          <ac:spMkLst>
            <pc:docMk/>
            <pc:sldMk cId="0" sldId="256"/>
            <ac:spMk id="13" creationId="{14DF4F62-048E-218D-3881-AE7211FC5CDE}"/>
          </ac:spMkLst>
        </pc:spChg>
      </pc:sldChg>
      <pc:sldChg chg="addSp delSp modSp">
        <pc:chgData name="Monika Patil" userId="S::monikapatil@indiraicem.ac.in::ccfa4fd1-6a32-46a4-8c14-a790439a2639" providerId="AD" clId="Web-{1CB6D4EF-B951-2681-51D7-F4B5ADC6C7DA}" dt="2025-10-03T06:50:06.533" v="118" actId="20577"/>
        <pc:sldMkLst>
          <pc:docMk/>
          <pc:sldMk cId="0" sldId="257"/>
        </pc:sldMkLst>
        <pc:spChg chg="del mod">
          <ac:chgData name="Monika Patil" userId="S::monikapatil@indiraicem.ac.in::ccfa4fd1-6a32-46a4-8c14-a790439a2639" providerId="AD" clId="Web-{1CB6D4EF-B951-2681-51D7-F4B5ADC6C7DA}" dt="2025-10-03T06:48:33.920" v="105"/>
          <ac:spMkLst>
            <pc:docMk/>
            <pc:sldMk cId="0" sldId="257"/>
            <ac:spMk id="7" creationId="{BE9C1B08-F079-7228-6DDA-EB4E1762E239}"/>
          </ac:spMkLst>
        </pc:spChg>
        <pc:spChg chg="add mod">
          <ac:chgData name="Monika Patil" userId="S::monikapatil@indiraicem.ac.in::ccfa4fd1-6a32-46a4-8c14-a790439a2639" providerId="AD" clId="Web-{1CB6D4EF-B951-2681-51D7-F4B5ADC6C7DA}" dt="2025-10-03T06:50:06.533" v="118" actId="20577"/>
          <ac:spMkLst>
            <pc:docMk/>
            <pc:sldMk cId="0" sldId="257"/>
            <ac:spMk id="8" creationId="{3626E864-C76D-3216-9115-185B7D6397D1}"/>
          </ac:spMkLst>
        </pc:spChg>
      </pc:sldChg>
      <pc:sldChg chg="del">
        <pc:chgData name="Monika Patil" userId="S::monikapatil@indiraicem.ac.in::ccfa4fd1-6a32-46a4-8c14-a790439a2639" providerId="AD" clId="Web-{1CB6D4EF-B951-2681-51D7-F4B5ADC6C7DA}" dt="2025-10-03T06:39:38.942" v="17"/>
        <pc:sldMkLst>
          <pc:docMk/>
          <pc:sldMk cId="0" sldId="263"/>
        </pc:sldMkLst>
      </pc:sldChg>
      <pc:sldChg chg="modSp">
        <pc:chgData name="Monika Patil" userId="S::monikapatil@indiraicem.ac.in::ccfa4fd1-6a32-46a4-8c14-a790439a2639" providerId="AD" clId="Web-{1CB6D4EF-B951-2681-51D7-F4B5ADC6C7DA}" dt="2025-10-03T06:53:45.477" v="120" actId="20577"/>
        <pc:sldMkLst>
          <pc:docMk/>
          <pc:sldMk cId="0" sldId="264"/>
        </pc:sldMkLst>
        <pc:spChg chg="mod">
          <ac:chgData name="Monika Patil" userId="S::monikapatil@indiraicem.ac.in::ccfa4fd1-6a32-46a4-8c14-a790439a2639" providerId="AD" clId="Web-{1CB6D4EF-B951-2681-51D7-F4B5ADC6C7DA}" dt="2025-10-03T04:53:56.679" v="16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7:20.558" v="67" actId="20577"/>
          <ac:spMkLst>
            <pc:docMk/>
            <pc:sldMk cId="0" sldId="264"/>
            <ac:spMk id="25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7:44.559" v="90" actId="20577"/>
          <ac:spMkLst>
            <pc:docMk/>
            <pc:sldMk cId="0" sldId="264"/>
            <ac:spMk id="26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53:45.477" v="120" actId="20577"/>
          <ac:spMkLst>
            <pc:docMk/>
            <pc:sldMk cId="0" sldId="264"/>
            <ac:spMk id="27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8:19.123" v="101" actId="2057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6:30.945" v="65"/>
          <ac:spMkLst>
            <pc:docMk/>
            <pc:sldMk cId="0" sldId="264"/>
            <ac:spMk id="29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6:23.789" v="63"/>
          <ac:spMkLst>
            <pc:docMk/>
            <pc:sldMk cId="0" sldId="264"/>
            <ac:spMk id="30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6:08.147" v="59" actId="20577"/>
          <ac:spMkLst>
            <pc:docMk/>
            <pc:sldMk cId="0" sldId="264"/>
            <ac:spMk id="33" creationId="{00000000-0000-0000-0000-000000000000}"/>
          </ac:spMkLst>
        </pc:spChg>
        <pc:spChg chg="mod">
          <ac:chgData name="Monika Patil" userId="S::monikapatil@indiraicem.ac.in::ccfa4fd1-6a32-46a4-8c14-a790439a2639" providerId="AD" clId="Web-{1CB6D4EF-B951-2681-51D7-F4B5ADC6C7DA}" dt="2025-10-03T06:45:49.396" v="51" actId="1076"/>
          <ac:spMkLst>
            <pc:docMk/>
            <pc:sldMk cId="0" sldId="264"/>
            <ac:spMk id="34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7.jpeg"/><Relationship Id="rId9" Type="http://schemas.openxmlformats.org/officeDocument/2006/relationships/image" Target="../media/image8.png"/><Relationship Id="rId10" Type="http://schemas.openxmlformats.org/officeDocument/2006/relationships/image" Target="../media/image4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image" Target="../media/image11.png"/><Relationship Id="rId5" Type="http://schemas.openxmlformats.org/officeDocument/2006/relationships/image" Target="../media/image12.svg"/><Relationship Id="rId6" Type="http://schemas.openxmlformats.org/officeDocument/2006/relationships/image" Target="../media/image13.png"/><Relationship Id="rId7" Type="http://schemas.openxmlformats.org/officeDocument/2006/relationships/image" Target="../media/image14.svg"/><Relationship Id="rId8" Type="http://schemas.openxmlformats.org/officeDocument/2006/relationships/image" Target="../media/image15.png"/><Relationship Id="rId9" Type="http://schemas.openxmlformats.org/officeDocument/2006/relationships/image" Target="../media/image16.svg"/><Relationship Id="rId10" Type="http://schemas.openxmlformats.org/officeDocument/2006/relationships/image" Target="../media/image17.jpeg"/><Relationship Id="rId11" Type="http://schemas.openxmlformats.org/officeDocument/2006/relationships/image" Target="../media/image18.png"/><Relationship Id="rId12" Type="http://schemas.openxmlformats.org/officeDocument/2006/relationships/image" Target="../media/image19.svg"/><Relationship Id="rId13" Type="http://schemas.openxmlformats.org/officeDocument/2006/relationships/image" Target="../media/image20.png"/><Relationship Id="rId14" Type="http://schemas.openxmlformats.org/officeDocument/2006/relationships/image" Target="../media/image21.svg"/><Relationship Id="rId15" Type="http://schemas.openxmlformats.org/officeDocument/2006/relationships/image" Target="../media/image22.png"/><Relationship Id="rId16" Type="http://schemas.openxmlformats.org/officeDocument/2006/relationships/image" Target="../media/image23.svg"/><Relationship Id="rId17" Type="http://schemas.openxmlformats.org/officeDocument/2006/relationships/image" Target="../media/image24.png"/><Relationship Id="rId18" Type="http://schemas.openxmlformats.org/officeDocument/2006/relationships/image" Target="../media/image25.sv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Relationship Id="rId4" Type="http://schemas.openxmlformats.org/officeDocument/2006/relationships/image" Target="../media/image4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svg"/><Relationship Id="rId6" Type="http://schemas.openxmlformats.org/officeDocument/2006/relationships/image" Target="../media/image7.jpeg"/><Relationship Id="rId7" Type="http://schemas.openxmlformats.org/officeDocument/2006/relationships/image" Target="../media/image30.png"/><Relationship Id="rId8" Type="http://schemas.openxmlformats.org/officeDocument/2006/relationships/image" Target="../media/image31.svg"/><Relationship Id="rId9" Type="http://schemas.openxmlformats.org/officeDocument/2006/relationships/image" Target="../media/image32.png"/><Relationship Id="rId10" Type="http://schemas.openxmlformats.org/officeDocument/2006/relationships/image" Target="../media/image33.svg"/><Relationship Id="rId11" Type="http://schemas.openxmlformats.org/officeDocument/2006/relationships/image" Target="../media/image34.png"/><Relationship Id="rId12" Type="http://schemas.openxmlformats.org/officeDocument/2006/relationships/image" Target="../media/image35.svg"/><Relationship Id="rId13" Type="http://schemas.openxmlformats.org/officeDocument/2006/relationships/image" Target="../media/image36.png"/><Relationship Id="rId14" Type="http://schemas.openxmlformats.org/officeDocument/2006/relationships/image" Target="../media/image37.png"/><Relationship Id="rId15" Type="http://schemas.openxmlformats.org/officeDocument/2006/relationships/image" Target="../media/image38.svg"/><Relationship Id="rId16" Type="http://schemas.openxmlformats.org/officeDocument/2006/relationships/image" Target="../media/image39.png"/><Relationship Id="rId17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594360"/>
            <a:ext cx="5303520" cy="164592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097280" y="2514600"/>
            <a:ext cx="7680960" cy="438912"/>
          </a:xfrm>
          <a:prstGeom prst="round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MINI PROJECT REVIEW – 2  •  ACADEMIC YEAR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80467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5400" b="1">
                <a:solidFill>
                  <a:srgbClr val="0A2540"/>
                </a:solidFill>
                <a:latin typeface="Segoe UI"/>
              </a:defRPr>
            </a:pPr>
            <a:r>
              <a:t>EduVerse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34340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005F73"/>
                </a:solidFill>
                <a:latin typeface="Segoe UI"/>
              </a:defRPr>
            </a:pPr>
            <a:r>
              <a:t>An Animated Virtual Tutor for Personalized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03520"/>
            <a:ext cx="8046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Segoe UI"/>
              </a:defRPr>
            </a:pPr>
            <a:r>
              <a:t>Department of Artificial Intelligence &amp; Data Science</a:t>
            </a:r>
          </a:p>
          <a:p>
            <a:pPr>
              <a:spcBef>
                <a:spcPts val="4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Indira College of Engineering &amp; Management, Pune (Autonomous)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6492240"/>
            <a:ext cx="393192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PRESENTED BY</a:t>
            </a:r>
          </a:p>
          <a:p>
            <a:pPr>
              <a:spcBef>
                <a:spcPts val="6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Aryan Shinde</a:t>
            </a:r>
          </a:p>
          <a:p>
            <a:pPr>
              <a:spcBef>
                <a:spcPts val="6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Huzaifa Sheikh</a:t>
            </a:r>
          </a:p>
          <a:p>
            <a:pPr>
              <a:spcBef>
                <a:spcPts val="6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•  Sufiyan Surve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  <a:latin typeface="Segoe UI"/>
              </a:defRPr>
            </a:pPr>
            <a:r>
              <a:t>B.E. Artificial Intelligence &amp; Data Science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57800" y="6492240"/>
            <a:ext cx="388620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UNDER THE GUIDANCE OF</a:t>
            </a:r>
          </a:p>
          <a:p>
            <a:pPr>
              <a:spcBef>
                <a:spcPts val="800"/>
              </a:spcBef>
              <a:defRPr sz="1600" b="1">
                <a:solidFill>
                  <a:srgbClr val="0A2540"/>
                </a:solidFill>
                <a:latin typeface="Segoe UI"/>
              </a:defRPr>
            </a:pPr>
            <a:r>
              <a:t>Prof. Monika Patil</a:t>
            </a:r>
          </a:p>
          <a:p>
            <a:pPr>
              <a:spcBef>
                <a:spcPts val="6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Assistant Professor &amp; Project Mentor</a:t>
            </a:r>
            <a:br/>
            <a:r>
              <a:t>Dept. of Artificial Intelligence &amp; Data Science</a:t>
            </a:r>
            <a:br/>
            <a:r>
              <a:t>ICEM, Pune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777240"/>
            <a:ext cx="7909560" cy="8412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ero_visual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46920" y="960120"/>
            <a:ext cx="7543800" cy="749807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0241280" y="8577072"/>
            <a:ext cx="6309360" cy="45720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AI-Assisted Contextual Learning &amp; Virtual Tutoring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42" name="Group 42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3" name="AutoShape 43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9897884" y="12823398"/>
              <a:ext cx="4721487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46" name="TextBox 45"/>
          <p:cNvSpPr txBox="1"/>
          <p:nvPr/>
        </p:nvSpPr>
        <p:spPr>
          <a:xfrm>
            <a:off x="2377440" y="438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A9396"/>
                </a:solidFill>
                <a:latin typeface="Segoe UI"/>
              </a:defRPr>
            </a:pPr>
            <a:r>
              <a:t>PROJECT REVIEW – 2 • PRESENTATION STRUCTURE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713232"/>
            <a:ext cx="12801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801600" y="9692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Segoe UI"/>
              </a:defRPr>
            </a:pPr>
            <a:r>
              <a:t>EduVerse AI • Mini Project Review-2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4400" y="1691640"/>
            <a:ext cx="38862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37744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SECTION  01</a:t>
            </a:r>
          </a:p>
          <a:p>
            <a:pPr>
              <a:spcBef>
                <a:spcPts val="4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Introduction</a:t>
            </a:r>
          </a:p>
          <a:p>
            <a:pPr>
              <a:spcBef>
                <a:spcPts val="4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FOCUS: IDEA &amp; PROBLEM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Problem context, fragmented study resources, and proposed virtual tutor concept.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0" y="1691640"/>
            <a:ext cx="38862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37744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SECTION  02</a:t>
            </a:r>
          </a:p>
          <a:p>
            <a:pPr>
              <a:spcBef>
                <a:spcPts val="4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Aim &amp; Objectives</a:t>
            </a:r>
          </a:p>
          <a:p>
            <a:pPr>
              <a:spcBef>
                <a:spcPts val="4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FOCUS: TARGET &amp; GOALS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Primary project goal and 6 core functional engineering deliverables.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44000" y="1691640"/>
            <a:ext cx="38862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37744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SECTION  03</a:t>
            </a:r>
          </a:p>
          <a:p>
            <a:pPr>
              <a:spcBef>
                <a:spcPts val="4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Tools Used</a:t>
            </a:r>
          </a:p>
          <a:p>
            <a:pPr>
              <a:spcBef>
                <a:spcPts val="4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FOCUS: TECH STACK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Proposed technology stack across UI, API, LLM, document engine, and 3D avatar.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3258800" y="1691640"/>
            <a:ext cx="38862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37744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SECTION  04</a:t>
            </a:r>
          </a:p>
          <a:p>
            <a:pPr>
              <a:spcBef>
                <a:spcPts val="4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Proposed Solution / Overview</a:t>
            </a:r>
          </a:p>
          <a:p>
            <a:pPr>
              <a:spcBef>
                <a:spcPts val="4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FOCUS: SYSTEM FLOW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End-to-end system architecture, PDF ingestion pipeline, and data flow.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" y="5349240"/>
            <a:ext cx="38862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37744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SECTION  05</a:t>
            </a:r>
          </a:p>
          <a:p>
            <a:pPr>
              <a:spcBef>
                <a:spcPts val="4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Implementation / Prototype</a:t>
            </a:r>
          </a:p>
          <a:p>
            <a:pPr>
              <a:spcBef>
                <a:spcPts val="4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FOCUS: FUNCTIONAL UI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Interactive web UI demonstration, dialogue stream, and active quiz module.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0" y="5349240"/>
            <a:ext cx="38862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37744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SECTION  06</a:t>
            </a:r>
          </a:p>
          <a:p>
            <a:pPr>
              <a:spcBef>
                <a:spcPts val="4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Applications</a:t>
            </a:r>
          </a:p>
          <a:p>
            <a:pPr>
              <a:spcBef>
                <a:spcPts val="4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FOCUS: PRACTICAL VALUE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Practical student self-learning, exam revision, and interactive practice use cases.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144000" y="5349240"/>
            <a:ext cx="38862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37744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SECTION  07</a:t>
            </a:r>
          </a:p>
          <a:p>
            <a:pPr>
              <a:spcBef>
                <a:spcPts val="4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Future Scope</a:t>
            </a:r>
          </a:p>
          <a:p>
            <a:pPr>
              <a:spcBef>
                <a:spcPts val="4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FOCUS: ROADMAP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Phased development roadmap, voice integration, and adaptive difficulty.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258800" y="5349240"/>
            <a:ext cx="3886200" cy="3383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37744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SECTION  08</a:t>
            </a:r>
          </a:p>
          <a:p>
            <a:pPr>
              <a:spcBef>
                <a:spcPts val="4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Conclusion &amp; References</a:t>
            </a:r>
          </a:p>
          <a:p>
            <a:pPr>
              <a:spcBef>
                <a:spcPts val="4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FOCUS: WRAP-UP &amp; DOCS</a:t>
            </a:r>
          </a:p>
          <a:p>
            <a:pPr>
              <a:spcBef>
                <a:spcPts val="8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Project summary, key takeaways, and verified technical documentation.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897885" y="12823398"/>
              <a:ext cx="54437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377440" y="438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A9396"/>
                </a:solidFill>
                <a:latin typeface="Segoe UI"/>
              </a:defRPr>
            </a:pPr>
            <a:r>
              <a:t>CONTEXT &amp;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713232"/>
            <a:ext cx="12801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9692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Segoe UI"/>
              </a:defRPr>
            </a:pPr>
            <a:r>
              <a:t>EduVerse AI • Mini Project Review-2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600200"/>
            <a:ext cx="512064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8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6032" wrap="square"/>
          <a:lstStyle/>
          <a:p>
            <a:pPr algn="ctr">
              <a:defRPr sz="1100" b="1">
                <a:solidFill>
                  <a:srgbClr val="B91C1C"/>
                </a:solidFill>
                <a:latin typeface="Segoe UI"/>
              </a:defRPr>
            </a:pPr>
            <a:r>
              <a:t>THE PROBLEM</a:t>
            </a:r>
          </a:p>
          <a:p>
            <a:pPr>
              <a:spcBef>
                <a:spcPts val="2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Limitations of Static Learning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 Fragmented Study Material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Students depend on disconnected textbook scans, static PDFs, and lengthy video lectures without unified assistance.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 Difficult Contextual Doubts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Finding clear explanations for specific course doubts requires switching across generic web platforms, losing syllabus focus.</a:t>
            </a:r>
          </a:p>
          <a:p>
            <a:pPr>
              <a:spcBef>
                <a:spcPts val="1200"/>
              </a:spcBef>
              <a:defRPr sz="1300" b="1">
                <a:solidFill>
                  <a:srgbClr val="0F172A"/>
                </a:solidFill>
                <a:latin typeface="Segoe UI"/>
              </a:defRPr>
            </a:pPr>
            <a:r>
              <a:t>•  No Instant Practice Loop</a:t>
            </a:r>
          </a:p>
          <a:p>
            <a:pPr>
              <a:spcBef>
                <a:spcPts val="2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Passive reading material does not automatically convert into interactive exercises, flashcards, or practice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600200"/>
            <a:ext cx="512064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6032" wrap="square"/>
          <a:lstStyle/>
          <a:p>
            <a:pPr algn="ctr">
              <a:defRPr sz="1100" b="1">
                <a:solidFill>
                  <a:srgbClr val="B45309"/>
                </a:solidFill>
                <a:latin typeface="Segoe UI"/>
              </a:defRPr>
            </a:pPr>
            <a:r>
              <a:t>THE GAP</a:t>
            </a:r>
          </a:p>
          <a:p>
            <a:pPr>
              <a:spcBef>
                <a:spcPts val="2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The Learning Bottleneck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743200"/>
            <a:ext cx="4572000" cy="1051560"/>
          </a:xfrm>
          <a:prstGeom prst="roundRect">
            <a:avLst/>
          </a:prstGeom>
          <a:solidFill>
            <a:srgbClr val="EBF4F6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📄 Static Content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Unstructured lecture slides, dense textbooks, and static PDF notes.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114800"/>
            <a:ext cx="4572000" cy="1051560"/>
          </a:xfrm>
          <a:prstGeom prst="roundRect">
            <a:avLst/>
          </a:prstGeom>
          <a:solidFill>
            <a:srgbClr val="EBF4F6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⏸️ Limited Interaction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One-way passive reading with zero real-time question answering.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5486400"/>
            <a:ext cx="4572000" cy="1051560"/>
          </a:xfrm>
          <a:prstGeom prst="roundRect">
            <a:avLst/>
          </a:prstGeom>
          <a:solidFill>
            <a:srgbClr val="EBF4F6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09728"/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⚠️ Generic Explanations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Non-personalized explanations without student-paced breakdown.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686800" y="3840480"/>
            <a:ext cx="274320" cy="219456"/>
          </a:xfrm>
          <a:prstGeom prst="down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8686800" y="5212080"/>
            <a:ext cx="274320" cy="219456"/>
          </a:xfrm>
          <a:prstGeom prst="down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612880" y="1600200"/>
            <a:ext cx="5760720" cy="5943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56032" wrap="square"/>
          <a:lstStyle/>
          <a:p>
            <a:pPr algn="ctr">
              <a:defRPr sz="1100" b="1">
                <a:solidFill>
                  <a:srgbClr val="005F73"/>
                </a:solidFill>
                <a:latin typeface="Segoe UI"/>
              </a:defRPr>
            </a:pPr>
            <a:r>
              <a:t>OUR IDEA</a:t>
            </a:r>
          </a:p>
          <a:p>
            <a:pPr>
              <a:spcBef>
                <a:spcPts val="200"/>
              </a:spcBef>
              <a:defRPr sz="1800" b="1">
                <a:solidFill>
                  <a:srgbClr val="0A2540"/>
                </a:solidFill>
                <a:latin typeface="Segoe UI"/>
              </a:defRPr>
            </a:pPr>
            <a:r>
              <a:t>EduVerse AI Virtual Tutor</a:t>
            </a:r>
          </a:p>
          <a:p>
            <a:pPr>
              <a:spcBef>
                <a:spcPts val="600"/>
              </a:spcBef>
              <a:defRPr sz="1150">
                <a:solidFill>
                  <a:srgbClr val="334155"/>
                </a:solidFill>
                <a:latin typeface="Segoe UI"/>
              </a:defRPr>
            </a:pPr>
            <a:r>
              <a:t>An interactive AI tutor bridging course documents with animated virtual guidance: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📚 Study Material: Direct upload and ingestion of syllabus notes and textbook chapters.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🧠 AI Understanding: Contextual parsing of text to anchor responses in student documents.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💬 Interactive Q&amp;A: Real-time conversational explanations tailored to student doubts.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📝 Quiz Generation: Automated MCQ creation from study content for instant practice.</a:t>
            </a:r>
          </a:p>
          <a:p>
            <a:pPr>
              <a:spcBef>
                <a:spcPts val="5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🤖 Animated Tutor: A WebGL 3D virtual avatar interface that increases engagement.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7772400"/>
            <a:ext cx="16459200" cy="1554480"/>
          </a:xfrm>
          <a:prstGeom prst="roundRect">
            <a:avLst/>
          </a:prstGeom>
          <a:solidFill>
            <a:srgbClr val="F8FBFC"/>
          </a:solidFill>
          <a:ln w="1524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64592"/>
          <a:lstStyle/>
          <a:p>
            <a:pPr algn="ctr">
              <a:defRPr sz="1050" b="1">
                <a:solidFill>
                  <a:srgbClr val="0A9396"/>
                </a:solidFill>
                <a:latin typeface="Segoe UI"/>
              </a:defRPr>
            </a:pPr>
            <a:r>
              <a:t>CORE INTERACTIVE LEARNING PIPELINE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188720" y="8321040"/>
            <a:ext cx="2423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1. UPLOAD PDF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648456" y="8595360"/>
            <a:ext cx="146304" cy="201168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31336" y="8321040"/>
            <a:ext cx="2423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2. UNDERSTAND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91072" y="8595360"/>
            <a:ext cx="146304" cy="201168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73952" y="8321040"/>
            <a:ext cx="2423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3. ASK DOUBT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933688" y="8595360"/>
            <a:ext cx="146304" cy="201168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16568" y="8321040"/>
            <a:ext cx="2423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4. EXPLAIN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1576304" y="8595360"/>
            <a:ext cx="146304" cy="201168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759184" y="8321040"/>
            <a:ext cx="2423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5. PRACTICE QUIZ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14218920" y="8595360"/>
            <a:ext cx="146304" cy="201168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401800" y="8321040"/>
            <a:ext cx="242316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6. REVIEW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897885" y="12823398"/>
              <a:ext cx="57485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377440" y="438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A9396"/>
                </a:solidFill>
                <a:latin typeface="Segoe UI"/>
              </a:defRPr>
            </a:pPr>
            <a:r>
              <a:t>PROJECT GOAL &amp; ENGINEERING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713232"/>
            <a:ext cx="12801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Segoe UI"/>
              </a:defRPr>
            </a:pPr>
            <a:r>
              <a:t>Aim &amp;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9692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Segoe UI"/>
              </a:defRPr>
            </a:pPr>
            <a:r>
              <a:t>EduVerse AI • Mini Project Review-2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54480"/>
            <a:ext cx="164592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201168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CORE PROJECT AIM</a:t>
            </a:r>
          </a:p>
          <a:p>
            <a:pPr>
              <a:spcBef>
                <a:spcPts val="400"/>
              </a:spcBef>
              <a:defRPr sz="1750" b="1">
                <a:solidFill>
                  <a:srgbClr val="0A2540"/>
                </a:solidFill>
                <a:latin typeface="Segoe UI"/>
              </a:defRPr>
            </a:pPr>
            <a:r>
              <a:t>“To develop an AI-powered animated virtual tutor that helps students interact with their study material, obtain contextual explanations and practice concepts through automatically generated quizzes.”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520440"/>
            <a:ext cx="530352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01168" wrap="square"/>
          <a:lstStyle/>
          <a:p>
            <a:pPr algn="ctr">
              <a:defRPr sz="1000" b="1">
                <a:solidFill>
                  <a:srgbClr val="0A9396"/>
                </a:solidFill>
                <a:latin typeface="Segoe UI"/>
              </a:defRPr>
            </a:pPr>
            <a:r>
              <a:t>OBJECTIVE  01  •  CONVERSATION</a:t>
            </a:r>
          </a:p>
          <a:p>
            <a:pPr>
              <a:spcBef>
                <a:spcPts val="3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Interactive AI Tutor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Provide an engaging virtual learning assistant capable of answering student queries in a natural, conversational manner.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520440"/>
            <a:ext cx="530352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01168" wrap="square"/>
          <a:lstStyle/>
          <a:p>
            <a:pPr algn="ctr">
              <a:defRPr sz="1000" b="1">
                <a:solidFill>
                  <a:srgbClr val="0A9396"/>
                </a:solidFill>
                <a:latin typeface="Segoe UI"/>
              </a:defRPr>
            </a:pPr>
            <a:r>
              <a:t>OBJECTIVE  02  •  DOCUMENT PARSING</a:t>
            </a:r>
          </a:p>
          <a:p>
            <a:pPr>
              <a:spcBef>
                <a:spcPts val="3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Study Material Understanding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Parse and extract machine-readable text from student-uploaded PDF documents for contextual grounding.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80" y="3520440"/>
            <a:ext cx="530352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01168" wrap="square"/>
          <a:lstStyle/>
          <a:p>
            <a:pPr algn="ctr">
              <a:defRPr sz="1000" b="1">
                <a:solidFill>
                  <a:srgbClr val="0A9396"/>
                </a:solidFill>
                <a:latin typeface="Segoe UI"/>
              </a:defRPr>
            </a:pPr>
            <a:r>
              <a:t>OBJECTIVE  03  •  TARGETED DOUBTS</a:t>
            </a:r>
          </a:p>
          <a:p>
            <a:pPr>
              <a:spcBef>
                <a:spcPts val="3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Contextual Q&amp;A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Deliver accurate, document-relevant explanations tailored to specific student doubts, minimizing generic answers.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6537960"/>
            <a:ext cx="530352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01168" wrap="square"/>
          <a:lstStyle/>
          <a:p>
            <a:pPr algn="ctr">
              <a:defRPr sz="1000" b="1">
                <a:solidFill>
                  <a:srgbClr val="0A9396"/>
                </a:solidFill>
                <a:latin typeface="Segoe UI"/>
              </a:defRPr>
            </a:pPr>
            <a:r>
              <a:t>OBJECTIVE  04  •  CLARITY &amp; DEPTH</a:t>
            </a:r>
          </a:p>
          <a:p>
            <a:pPr>
              <a:spcBef>
                <a:spcPts val="3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Simplified Explanations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Deconstruct complex theoretical definitions and formulas into structured, student-friendly conceptual analogies.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6537960"/>
            <a:ext cx="530352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01168" wrap="square"/>
          <a:lstStyle/>
          <a:p>
            <a:pPr algn="ctr">
              <a:defRPr sz="1000" b="1">
                <a:solidFill>
                  <a:srgbClr val="0A9396"/>
                </a:solidFill>
                <a:latin typeface="Segoe UI"/>
              </a:defRPr>
            </a:pPr>
            <a:r>
              <a:t>OBJECTIVE  05  •  ACTIVE ASSESSMENT</a:t>
            </a:r>
          </a:p>
          <a:p>
            <a:pPr>
              <a:spcBef>
                <a:spcPts val="3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AI Quiz Generation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Automatically generate multiple-choice practice questions directly from the uploaded material for self-testing.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70080" y="6537960"/>
            <a:ext cx="5303520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6032" rIns="256032" tIns="201168" wrap="square"/>
          <a:lstStyle/>
          <a:p>
            <a:pPr algn="ctr">
              <a:defRPr sz="1000" b="1">
                <a:solidFill>
                  <a:srgbClr val="0A9396"/>
                </a:solidFill>
                <a:latin typeface="Segoe UI"/>
              </a:defRPr>
            </a:pPr>
            <a:r>
              <a:t>OBJECTIVE  06  •  EVALUATION</a:t>
            </a:r>
          </a:p>
          <a:p>
            <a:pPr>
              <a:spcBef>
                <a:spcPts val="300"/>
              </a:spcBef>
              <a:defRPr sz="1650" b="1">
                <a:solidFill>
                  <a:srgbClr val="0A2540"/>
                </a:solidFill>
                <a:latin typeface="Segoe UI"/>
              </a:defRPr>
            </a:pPr>
            <a:r>
              <a:t>Learning Feedback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Segoe UI"/>
              </a:defRPr>
            </a:pPr>
            <a:r>
              <a:t>Provide instant scoring, answer rationales, and self-assessment insights to reinforce student understanding.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897885" y="12823398"/>
              <a:ext cx="55453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377440" y="438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A9396"/>
                </a:solidFill>
                <a:latin typeface="Segoe UI"/>
              </a:defRPr>
            </a:pPr>
            <a:r>
              <a:t>ENGINEERING DESIGN &amp; END-TO-END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713232"/>
            <a:ext cx="12801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Segoe UI"/>
              </a:defRPr>
            </a:pPr>
            <a:r>
              <a:t>System Architecture &amp; Technology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9692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Segoe UI"/>
              </a:defRPr>
            </a:pPr>
            <a:r>
              <a:t>EduVerse AI • Mini Project Review-2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54480"/>
            <a:ext cx="4846320" cy="777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rIns="237744" tIns="219456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PROPOSED TECHNOLOGY STACK</a:t>
            </a:r>
          </a:p>
          <a:p>
            <a:pPr>
              <a:spcBef>
                <a:spcPts val="800"/>
              </a:spcBef>
              <a:defRPr sz="1150" b="1">
                <a:solidFill>
                  <a:srgbClr val="0A2540"/>
                </a:solidFill>
                <a:latin typeface="Segoe UI"/>
              </a:defRPr>
            </a:pPr>
            <a:r>
              <a:t>Frontend Interface:  React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Component-based single page application &amp; interactive dashboard.</a:t>
            </a:r>
          </a:p>
          <a:p>
            <a:pPr>
              <a:spcBef>
                <a:spcPts val="800"/>
              </a:spcBef>
              <a:defRPr sz="1150" b="1">
                <a:solidFill>
                  <a:srgbClr val="0A2540"/>
                </a:solidFill>
                <a:latin typeface="Segoe UI"/>
              </a:defRPr>
            </a:pPr>
            <a:r>
              <a:t>Backend Services:  Python / FastAPI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High-performance asynchronous REST API routing and logic.</a:t>
            </a:r>
          </a:p>
          <a:p>
            <a:pPr>
              <a:spcBef>
                <a:spcPts val="800"/>
              </a:spcBef>
              <a:defRPr sz="1150" b="1">
                <a:solidFill>
                  <a:srgbClr val="0A2540"/>
                </a:solidFill>
                <a:latin typeface="Segoe UI"/>
              </a:defRPr>
            </a:pPr>
            <a:r>
              <a:t>AI Processing Layer:  LLM API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Contextual reasoning, explanation generation &amp; quiz creation.</a:t>
            </a:r>
          </a:p>
          <a:p>
            <a:pPr>
              <a:spcBef>
                <a:spcPts val="800"/>
              </a:spcBef>
              <a:defRPr sz="1150" b="1">
                <a:solidFill>
                  <a:srgbClr val="0A2540"/>
                </a:solidFill>
                <a:latin typeface="Segoe UI"/>
              </a:defRPr>
            </a:pPr>
            <a:r>
              <a:t>Document Processing:  PyMuPDF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High-speed text extraction from uploaded student PDF files.</a:t>
            </a:r>
          </a:p>
          <a:p>
            <a:pPr>
              <a:spcBef>
                <a:spcPts val="800"/>
              </a:spcBef>
              <a:defRPr sz="1150" b="1">
                <a:solidFill>
                  <a:srgbClr val="0A2540"/>
                </a:solidFill>
                <a:latin typeface="Segoe UI"/>
              </a:defRPr>
            </a:pPr>
            <a:r>
              <a:t>Database Layer:  SQLite / PostgreSQL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Session state, document metadata, and quiz scores storage.</a:t>
            </a:r>
          </a:p>
          <a:p>
            <a:pPr>
              <a:spcBef>
                <a:spcPts val="800"/>
              </a:spcBef>
              <a:defRPr sz="1150" b="1">
                <a:solidFill>
                  <a:srgbClr val="0A2540"/>
                </a:solidFill>
                <a:latin typeface="Segoe UI"/>
              </a:defRPr>
            </a:pPr>
            <a:r>
              <a:t>Avatar Technology:  Three.js / WebGL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Web-based animated 3D virtual assistant display.</a:t>
            </a:r>
          </a:p>
          <a:p>
            <a:pPr>
              <a:spcBef>
                <a:spcPts val="800"/>
              </a:spcBef>
              <a:defRPr sz="1150" b="1">
                <a:solidFill>
                  <a:srgbClr val="0A2540"/>
                </a:solidFill>
                <a:latin typeface="Segoe UI"/>
              </a:defRPr>
            </a:pPr>
            <a:r>
              <a:t>VCS &amp; API Testing:  Git, GitHub &amp; Postman</a:t>
            </a:r>
          </a:p>
          <a:p>
            <a:pPr>
              <a:spcBef>
                <a:spcPts val="1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Version control workflow and automated API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554480"/>
            <a:ext cx="11338560" cy="777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01168"/>
          <a:lstStyle/>
          <a:p>
            <a:pPr algn="ctr">
              <a:defRPr sz="1100" b="1">
                <a:solidFill>
                  <a:srgbClr val="005F73"/>
                </a:solidFill>
                <a:latin typeface="Segoe UI"/>
              </a:defRPr>
            </a:pPr>
            <a:r>
              <a:t>END-TO-END SYSTEM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48840"/>
            <a:ext cx="3108960" cy="1051560"/>
          </a:xfrm>
          <a:prstGeom prst="roundRect">
            <a:avLst/>
          </a:prstGeom>
          <a:solidFill>
            <a:srgbClr val="EBF4F6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👨‍🎓 Student User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Uploads PDF • Asks Doubts • Takes Quizzes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46920" y="2542032"/>
            <a:ext cx="365760" cy="219456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149840" y="2148840"/>
            <a:ext cx="3291840" cy="1051560"/>
          </a:xfrm>
          <a:prstGeom prst="roundRect">
            <a:avLst/>
          </a:prstGeom>
          <a:solidFill>
            <a:srgbClr val="EBF4F6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🖥️ React Web Interface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Dashboard • Dialogue Stream • Avatar Canvas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3578840" y="2542032"/>
            <a:ext cx="365760" cy="219456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081760" y="2148840"/>
            <a:ext cx="2926080" cy="105156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1200" b="1">
                <a:solidFill>
                  <a:srgbClr val="005F73"/>
                </a:solidFill>
                <a:latin typeface="Segoe UI"/>
              </a:defRPr>
            </a:pPr>
            <a:r>
              <a:t>⚙️ FastAPI Backend</a:t>
            </a:r>
          </a:p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r>
              <a:t>REST Endpoints • Session Coordinator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657600"/>
            <a:ext cx="49377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📑 Document Processing Pipeline (PyMuPDF)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1. Student uploads syllabus PDF / lecture notes.</a:t>
            </a:r>
            <a:br/>
            <a:r>
              <a:t>2. PyMuPDF extracts machine-readable text and clean chapters.</a:t>
            </a:r>
            <a:br/>
            <a:r>
              <a:t>3. Formats document context for grounded LLM prompts.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0" y="3657600"/>
            <a:ext cx="5120640" cy="1371600"/>
          </a:xfrm>
          <a:prstGeom prst="roundRect">
            <a:avLst/>
          </a:prstGeom>
          <a:solidFill>
            <a:srgbClr val="E6F5F5"/>
          </a:solidFill>
          <a:ln w="19050">
            <a:solidFill>
              <a:srgbClr val="0A9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200" b="1">
                <a:solidFill>
                  <a:srgbClr val="0A2540"/>
                </a:solidFill>
                <a:latin typeface="Segoe UI"/>
              </a:defRPr>
            </a:pPr>
            <a:r>
              <a:t>🧠 AI Processing Engine (LLM API)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Receives user doubt + extracted document context</a:t>
            </a:r>
            <a:br/>
            <a:r>
              <a:t>• Performs grounded semantic reasoning</a:t>
            </a:r>
            <a:br/>
            <a:r>
              <a:t>• Formats natural language explanations &amp; MCQ questions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1430000" y="4251960"/>
            <a:ext cx="365760" cy="219456"/>
          </a:xfrm>
          <a:prstGeom prst="rightArrow">
            <a:avLst/>
          </a:prstGeom>
          <a:solidFill>
            <a:srgbClr val="0A9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5440680"/>
            <a:ext cx="5120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💬 Contextual Q&amp;A &amp; Explanation Engine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Answers student doubts grounded in syllabus notes.</a:t>
            </a:r>
            <a:br/>
            <a:r>
              <a:t>• Breaks down complex formulas into intuitive analogies.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0" y="5440680"/>
            <a:ext cx="5120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📝 Dynamic Quiz Generator &amp; Scoring</a:t>
            </a:r>
          </a:p>
          <a:p>
            <a:pPr>
              <a:spcBef>
                <a:spcPts val="300"/>
              </a:spcBef>
              <a:defRPr sz="1000">
                <a:solidFill>
                  <a:srgbClr val="334155"/>
                </a:solidFill>
                <a:latin typeface="Segoe UI"/>
              </a:defRPr>
            </a:pPr>
            <a:r>
              <a:t>• Creates multiple-choice questions from ingested chapters.</a:t>
            </a:r>
            <a:br/>
            <a:r>
              <a:t>• Delivers immediate evaluation and answer rationales.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6949440"/>
            <a:ext cx="10607040" cy="201168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 wrap="square"/>
          <a:lstStyle/>
          <a:p>
            <a:pPr algn="ctr">
              <a:defRPr sz="1050" b="1">
                <a:solidFill>
                  <a:srgbClr val="0A9396"/>
                </a:solidFill>
                <a:latin typeface="Segoe UI"/>
              </a:defRPr>
            </a:pPr>
            <a:r>
              <a:t>VIVA EXPLAINABILITY &amp; DATA FLOW RATIONALE</a:t>
            </a:r>
          </a:p>
          <a:p>
            <a:pPr>
              <a:spcBef>
                <a:spcPts val="400"/>
              </a:spcBef>
              <a:defRPr sz="1150">
                <a:solidFill>
                  <a:srgbClr val="0F172A"/>
                </a:solidFill>
                <a:latin typeface="Segoe UI"/>
              </a:defRPr>
            </a:pPr>
            <a:r>
              <a:t>“The student interacts via the React dashboard. Uploaded PDFs are parsed into text using PyMuPDF. When a doubt is submitted, the backend provides the relevant document text alongside the prompt to the LLM API, ensuring syllabus-grounded explanations. Quizzes are generated from the same context for self-assessment.”</a:t>
            </a:r>
          </a:p>
          <a:p>
            <a:pPr>
              <a:spcBef>
                <a:spcPts val="6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Implementation Status: Core PDF ingestion, REST endpoints, and prompt integration under active development (Prototype Architecture).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897885" y="12823398"/>
              <a:ext cx="49357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377440" y="438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A9396"/>
                </a:solidFill>
                <a:latin typeface="Segoe UI"/>
              </a:defRPr>
            </a:pPr>
            <a:r>
              <a:t>FUNCTIONAL INTERFACE DEMONSTRATION &amp; EXECUTION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713232"/>
            <a:ext cx="12801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Segoe UI"/>
              </a:defRPr>
            </a:pPr>
            <a:r>
              <a:t>Implementation /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9692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Segoe UI"/>
              </a:defRPr>
            </a:pPr>
            <a:r>
              <a:t>EduVerse AI • Mini Project Review-2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54480"/>
            <a:ext cx="16459200" cy="5989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554480"/>
            <a:ext cx="16459200" cy="438912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168249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16736" y="1682496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36192" y="168249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11680" y="1627632"/>
            <a:ext cx="5943600" cy="292608"/>
          </a:xfrm>
          <a:prstGeom prst="roundRect">
            <a:avLst/>
          </a:prstGeom>
          <a:solidFill>
            <a:srgbClr val="1A36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000">
                <a:solidFill>
                  <a:srgbClr val="94D2BD"/>
                </a:solidFill>
                <a:latin typeface="Segoe UI"/>
              </a:defRPr>
            </a:pPr>
            <a:r>
              <a:t>🔒  https://eduverse-ai.local/app/tutor-workspace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533120" y="1627632"/>
            <a:ext cx="3657600" cy="292608"/>
          </a:xfrm>
          <a:prstGeom prst="round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PROTOTYPE INTERFACE (DEMONSTRATION)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1993392"/>
            <a:ext cx="2560320" cy="5550408"/>
          </a:xfrm>
          <a:prstGeom prst="rect">
            <a:avLst/>
          </a:prstGeom>
          <a:solidFill>
            <a:srgbClr val="0F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219456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EduVerse AI</a:t>
            </a:r>
          </a:p>
          <a:p>
            <a:pPr>
              <a:spcBef>
                <a:spcPts val="1200"/>
              </a:spcBef>
              <a:defRPr sz="1100" b="0">
                <a:solidFill>
                  <a:srgbClr val="B4C3D2"/>
                </a:solidFill>
                <a:latin typeface="Segoe UI"/>
              </a:defRPr>
            </a:pPr>
            <a:r>
              <a:t>📊  Dashboard</a:t>
            </a:r>
          </a:p>
          <a:p>
            <a:pPr>
              <a:spcBef>
                <a:spcPts val="1200"/>
              </a:spcBef>
              <a:defRPr sz="1100" b="1">
                <a:solidFill>
                  <a:srgbClr val="94D2BD"/>
                </a:solidFill>
                <a:latin typeface="Segoe UI"/>
              </a:defRPr>
            </a:pPr>
            <a:r>
              <a:t>📚  My Material</a:t>
            </a:r>
          </a:p>
          <a:p>
            <a:pPr>
              <a:spcBef>
                <a:spcPts val="1200"/>
              </a:spcBef>
              <a:defRPr sz="1100" b="1">
                <a:solidFill>
                  <a:srgbClr val="94D2BD"/>
                </a:solidFill>
                <a:latin typeface="Segoe UI"/>
              </a:defRPr>
            </a:pPr>
            <a:r>
              <a:t>🤖  Virtual Tutor</a:t>
            </a:r>
          </a:p>
          <a:p>
            <a:pPr>
              <a:spcBef>
                <a:spcPts val="1200"/>
              </a:spcBef>
              <a:defRPr sz="1100" b="0">
                <a:solidFill>
                  <a:srgbClr val="B4C3D2"/>
                </a:solidFill>
                <a:latin typeface="Segoe UI"/>
              </a:defRPr>
            </a:pPr>
            <a:r>
              <a:t>📝  Practice Quizzes</a:t>
            </a:r>
          </a:p>
          <a:p>
            <a:pPr>
              <a:spcBef>
                <a:spcPts val="1200"/>
              </a:spcBef>
              <a:defRPr sz="1100" b="0">
                <a:solidFill>
                  <a:srgbClr val="B4C3D2"/>
                </a:solidFill>
                <a:latin typeface="Segoe UI"/>
              </a:defRPr>
            </a:pPr>
            <a:r>
              <a:t>📈  Progress Analytics</a:t>
            </a:r>
          </a:p>
          <a:p>
            <a:pPr>
              <a:spcBef>
                <a:spcPts val="1200"/>
              </a:spcBef>
              <a:defRPr sz="1100" b="0">
                <a:solidFill>
                  <a:srgbClr val="B4C3D2"/>
                </a:solidFill>
                <a:latin typeface="Segoe UI"/>
              </a:defRPr>
            </a:pPr>
            <a:r>
              <a:t>⚙️  Settings</a:t>
            </a:r>
          </a:p>
          <a:p>
            <a:br/>
            <a:br/>
            <a:pPr>
              <a:defRPr sz="950">
                <a:solidFill>
                  <a:srgbClr val="788CA0"/>
                </a:solidFill>
                <a:latin typeface="Segoe UI"/>
              </a:defRPr>
            </a:pPr>
            <a:r>
              <a:t>Build: v0.2-alpha</a:t>
            </a:r>
            <a:br/>
            <a:r>
              <a:t>Status: Local Prototype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2148840"/>
            <a:ext cx="7589520" cy="77724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150" b="1">
                <a:solidFill>
                  <a:srgbClr val="0A2540"/>
                </a:solidFill>
                <a:latin typeface="Segoe UI"/>
              </a:defRPr>
            </a:pPr>
            <a:r>
              <a:t>📄 ACTIVE DOCUMENT: Machine_Learning_Basics.pdf</a:t>
            </a:r>
          </a:p>
          <a:p>
            <a:pPr>
              <a:defRPr sz="1000">
                <a:solidFill>
                  <a:srgbClr val="005F73"/>
                </a:solidFill>
                <a:latin typeface="Segoe UI"/>
              </a:defRPr>
            </a:pPr>
            <a:r>
              <a:t>Unit 4: Supervised Learning • 24 Pages Parsed (PyMuPDF) • Context Grounded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3108960"/>
            <a:ext cx="6492240" cy="1005840"/>
          </a:xfrm>
          <a:prstGeom prst="roundRect">
            <a:avLst/>
          </a:prstGeom>
          <a:solidFill>
            <a:srgbClr val="E6F5F5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09728"/>
          <a:lstStyle/>
          <a:p>
            <a:pPr algn="ctr">
              <a:defRPr sz="1000" b="1">
                <a:solidFill>
                  <a:srgbClr val="005F73"/>
                </a:solidFill>
                <a:latin typeface="Segoe UI"/>
              </a:defRPr>
            </a:pPr>
            <a:r>
              <a:t>👨‍🎓 Student Doubt:</a:t>
            </a:r>
          </a:p>
          <a:p>
            <a:pPr>
              <a:spcBef>
                <a:spcPts val="200"/>
              </a:spcBef>
              <a:defRPr sz="1150">
                <a:solidFill>
                  <a:srgbClr val="0A2540"/>
                </a:solidFill>
                <a:latin typeface="Segoe UI"/>
              </a:defRPr>
            </a:pPr>
            <a:r>
              <a:t>“Explain supervised learning in simple terms with an example from my notes.”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4251960"/>
            <a:ext cx="75895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28016" wrap="square"/>
          <a:lstStyle/>
          <a:p>
            <a:pPr algn="ctr">
              <a:defRPr sz="1000" b="1">
                <a:solidFill>
                  <a:srgbClr val="0A9396"/>
                </a:solidFill>
                <a:latin typeface="Segoe UI"/>
              </a:defRPr>
            </a:pPr>
            <a:r>
              <a:t>🤖 EduVerse AI Tutor (Context-Grounded Explanation):</a:t>
            </a:r>
          </a:p>
          <a:p>
            <a:pPr>
              <a:spcBef>
                <a:spcPts val="300"/>
              </a:spcBef>
              <a:defRPr sz="1100">
                <a:solidFill>
                  <a:srgbClr val="0F172A"/>
                </a:solidFill>
                <a:latin typeface="Segoe UI"/>
              </a:defRPr>
            </a:pPr>
            <a:r>
              <a:t>“Supervised learning is a machine learning approach where a model learns from labeled training examples (pairs of input features and expected target outputs).</a:t>
            </a:r>
            <a:br/>
            <a:br/>
            <a:r>
              <a:t>• Analogy: Learning with an answer key.</a:t>
            </a:r>
            <a:br/>
            <a:r>
              <a:t>• Example from Chapter 4: Predicting real-estate house prices based on known square footage and past transaction records.”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6583680"/>
            <a:ext cx="3566160" cy="475488"/>
          </a:xfrm>
          <a:prstGeom prst="roundRect">
            <a:avLst/>
          </a:prstGeom>
          <a:solidFill>
            <a:srgbClr val="EBF4F6"/>
          </a:solidFill>
          <a:ln w="1270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5F73"/>
                </a:solidFill>
                <a:latin typeface="Segoe UI"/>
              </a:defRPr>
            </a:pPr>
            <a:r>
              <a:t>💬  Ask Follow-Up Question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6583680"/>
            <a:ext cx="3749039" cy="475488"/>
          </a:xfrm>
          <a:prstGeom prst="roundRect">
            <a:avLst/>
          </a:prstGeom>
          <a:solidFill>
            <a:srgbClr val="00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📝  Generate Concept Practice Quiz</a:t>
            </a:r>
          </a:p>
        </p:txBody>
      </p:sp>
      <p:pic>
        <p:nvPicPr>
          <p:cNvPr id="23" name="Picture 22" descr="avatar_assista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0" y="2148840"/>
            <a:ext cx="5623560" cy="28346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1704320" y="4709160"/>
            <a:ext cx="3291840" cy="347472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Segoe UI"/>
              </a:defRPr>
            </a:pPr>
            <a:r>
              <a:t>🟢 EduVerse 3D Tutor • Active Session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521440" y="5166360"/>
            <a:ext cx="5623560" cy="219456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28016" wrap="square"/>
          <a:lstStyle/>
          <a:p>
            <a:pPr algn="ctr">
              <a:defRPr sz="1000" b="1">
                <a:solidFill>
                  <a:srgbClr val="0A9396"/>
                </a:solidFill>
                <a:latin typeface="Segoe UI"/>
              </a:defRPr>
            </a:pPr>
            <a:r>
              <a:t>LIVE CONCEPT CHECK (AUTO-GENERATED)</a:t>
            </a:r>
          </a:p>
          <a:p>
            <a:pPr>
              <a:spcBef>
                <a:spcPts val="300"/>
              </a:spcBef>
              <a:defRPr sz="1100" b="1">
                <a:solidFill>
                  <a:srgbClr val="0A2540"/>
                </a:solidFill>
                <a:latin typeface="Segoe UI"/>
              </a:defRPr>
            </a:pPr>
            <a:r>
              <a:t>Q1: In supervised learning, what do training samples consist of?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[   ]  A. Unlabeled data patterns</a:t>
            </a:r>
          </a:p>
          <a:p>
            <a:pPr>
              <a:spcBef>
                <a:spcPts val="200"/>
              </a:spcBef>
              <a:defRPr sz="1050">
                <a:solidFill>
                  <a:srgbClr val="2D6A4F"/>
                </a:solidFill>
                <a:latin typeface="Segoe UI"/>
              </a:defRPr>
            </a:pPr>
            <a:r>
              <a:t>[ ✓ ]  B. Features paired with ground-truth labels  (Correct)</a:t>
            </a:r>
          </a:p>
          <a:p>
            <a:pPr>
              <a:spcBef>
                <a:spcPts val="2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[   ]  C. Reinforcement reward signals 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7680960"/>
            <a:ext cx="16459200" cy="164592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46304"/>
          <a:lstStyle/>
          <a:p>
            <a:pPr algn="ctr">
              <a:defRPr sz="1050" b="1">
                <a:solidFill>
                  <a:srgbClr val="0A9396"/>
                </a:solidFill>
                <a:latin typeface="Segoe UI"/>
              </a:defRPr>
            </a:pPr>
            <a:r>
              <a:t>IMPLEMENTATION PIPELINE &amp; EXECUTION WORKFLOW</a:t>
            </a:r>
          </a:p>
          <a:p>
            <a:pPr>
              <a:spcBef>
                <a:spcPts val="400"/>
              </a:spcBef>
              <a:defRPr sz="1200" b="1">
                <a:solidFill>
                  <a:srgbClr val="0A2540"/>
                </a:solidFill>
                <a:latin typeface="Segoe UI"/>
              </a:defRPr>
            </a:pPr>
            <a:r>
              <a:t>1. PDF Upload  ➔  2. Text Extraction (PyMuPDF)  ➔  3. AI Context Grounding  ➔  4. Contextual Q&amp;A  ➔  5. Quiz Generation  ➔  6. Instant Evaluation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Segoe UI"/>
              </a:defRPr>
            </a:pPr>
            <a:r>
              <a:t>Note: Screen demonstrates designed software prototype layout and functional workflow components. Advanced 3D avatar rigging and adaptive analytics are under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510317" cy="10056120"/>
            <a:chOff x="0" y="0"/>
            <a:chExt cx="24680423" cy="13408161"/>
          </a:xfrm>
        </p:grpSpPr>
        <p:sp>
          <p:nvSpPr>
            <p:cNvPr id="4" name="AutoShape 4"/>
            <p:cNvSpPr/>
            <p:nvPr/>
          </p:nvSpPr>
          <p:spPr>
            <a:xfrm>
              <a:off x="25400" y="12574494"/>
              <a:ext cx="2465502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9652000" y="12823398"/>
              <a:ext cx="4834115" cy="58476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49"/>
                </a:lnSpc>
                <a:spcBef>
                  <a:spcPct val="0"/>
                </a:spcBef>
              </a:pPr>
              <a:r>
                <a:rPr lang="en-US" sz="2606" b="1" err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www.indiraicem.ac.in</a:t>
              </a:r>
              <a:endParaRPr lang="en-US" sz="260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377440" y="438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A9396"/>
                </a:solidFill>
                <a:latin typeface="Segoe UI"/>
              </a:defRPr>
            </a:pPr>
            <a:r>
              <a:t>PRACTICAL USE CASES &amp; DEVELOPMENT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713232"/>
            <a:ext cx="12801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Segoe UI"/>
              </a:defRPr>
            </a:pPr>
            <a:r>
              <a:t>Applications &amp;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0" y="9692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Segoe UI"/>
              </a:defRPr>
            </a:pPr>
            <a:r>
              <a:t>EduVerse AI • Mini Project Review-2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554480"/>
            <a:ext cx="7955279" cy="777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92608" tIns="219456" wrap="square"/>
          <a:lstStyle/>
          <a:p>
            <a:pPr algn="ctr">
              <a:defRPr sz="1100" b="1">
                <a:solidFill>
                  <a:srgbClr val="005F73"/>
                </a:solidFill>
                <a:latin typeface="Segoe UI"/>
              </a:defRPr>
            </a:pPr>
            <a:r>
              <a:t>PRACTICAL APPLICATIONS</a:t>
            </a:r>
          </a:p>
          <a:p>
            <a:pPr>
              <a:spcBef>
                <a:spcPts val="900"/>
              </a:spcBef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🎓  Student Self-Learning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Supports independent study sessions, self-paced revision, and instant clarification of complex textbook paragraphs without waiting for office hours.</a:t>
            </a:r>
          </a:p>
          <a:p>
            <a:pPr>
              <a:spcBef>
                <a:spcPts val="900"/>
              </a:spcBef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📚  Exam Preparation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Quickly transforms voluminous semester PDFs into structured summaries, key formula explanations, and revision practice sets.</a:t>
            </a:r>
          </a:p>
          <a:p>
            <a:pPr>
              <a:spcBef>
                <a:spcPts val="900"/>
              </a:spcBef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🔁  Targeted Concept Revision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Allows students to revisit difficult mathematical or theoretical topics on-demand with simplified breakdowns before laboratory viva.</a:t>
            </a:r>
          </a:p>
          <a:p>
            <a:pPr>
              <a:spcBef>
                <a:spcPts val="900"/>
              </a:spcBef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📝  Practice Assessment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Generates instant, topic-wise practice MCQs directly from uploaded chapters to evaluate retention and conceptual understanding.</a:t>
            </a:r>
          </a:p>
          <a:p>
            <a:pPr>
              <a:spcBef>
                <a:spcPts val="900"/>
              </a:spcBef>
              <a:defRPr sz="1300" b="1">
                <a:solidFill>
                  <a:srgbClr val="0A2540"/>
                </a:solidFill>
                <a:latin typeface="Segoe UI"/>
              </a:defRPr>
            </a:pPr>
            <a:r>
              <a:t>💻  Interactive Digital Learning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Serves as an engaging, multimodal virtual tutor module for institutional learning management systems (LMS).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0" y="1554480"/>
            <a:ext cx="8229600" cy="7772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92608" rIns="292608" tIns="219456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PHASED DEVELOPMENT ROADMAP</a:t>
            </a:r>
          </a:p>
          <a:p>
            <a:pPr>
              <a:spcBef>
                <a:spcPts val="900"/>
              </a:spcBef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1: Core AI Tutor (Current Prototype)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Document parsing via PyMuPDF, document-grounded contextual Q&amp;A, and basic multiple-choice quiz generation.</a:t>
            </a:r>
          </a:p>
          <a:p>
            <a:pPr>
              <a:spcBef>
                <a:spcPts val="900"/>
              </a:spcBef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2: Voice Interaction (Planned)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Integrating Speech-to-Text (STT) and natural Text-to-Speech (TTS) for natural voice-driven student tutoring.</a:t>
            </a:r>
          </a:p>
          <a:p>
            <a:pPr>
              <a:spcBef>
                <a:spcPts val="900"/>
              </a:spcBef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3: Personalized Learning (Planned)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Adaptive quiz difficulty that dynamically scales based on individual student accuracy and mastery.</a:t>
            </a:r>
          </a:p>
          <a:p>
            <a:pPr>
              <a:spcBef>
                <a:spcPts val="900"/>
              </a:spcBef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4: Learning Analytics (Planned)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Long-term student progress tracking, weak-topic identification, and targeted revision recommendations.</a:t>
            </a:r>
          </a:p>
          <a:p>
            <a:pPr>
              <a:spcBef>
                <a:spcPts val="900"/>
              </a:spcBef>
              <a:defRPr sz="1200" b="1">
                <a:solidFill>
                  <a:srgbClr val="0A2540"/>
                </a:solidFill>
                <a:latin typeface="Segoe UI"/>
              </a:defRPr>
            </a:pPr>
            <a:r>
              <a:t>PHASE 5: Cross-Platform Mobile App (Planned)</a:t>
            </a:r>
          </a:p>
          <a:p>
            <a:pPr>
              <a:spcBef>
                <a:spcPts val="200"/>
              </a:spcBef>
              <a:defRPr sz="1100">
                <a:solidFill>
                  <a:srgbClr val="334155"/>
                </a:solidFill>
                <a:latin typeface="Segoe UI"/>
              </a:defRPr>
            </a:pPr>
            <a:r>
              <a:t>Dedicated mobile deployment for smartphone-based portable studying and instant doubt solving.</a:t>
            </a:r>
          </a:p>
          <a:p>
            <a:br/>
            <a:pPr>
              <a:spcBef>
                <a:spcPts val="800"/>
              </a:spcBef>
              <a:defRPr sz="1000" b="1">
                <a:solidFill>
                  <a:srgbClr val="005F73"/>
                </a:solidFill>
                <a:latin typeface="Segoe UI"/>
              </a:defRPr>
            </a:pPr>
            <a:r>
              <a:t>Planned Technology Badges:  Speech-to-Text • Text-to-Speech • Multi-Language Support • RAG Document Grounding • Three.js Avatar Lip-Sync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50286"/>
          </a:xfrm>
          <a:custGeom>
            <a:avLst/>
            <a:gdLst/>
            <a:ahLst/>
            <a:cxnLst/>
            <a:rect l="l" t="t" r="r" b="b"/>
            <a:pathLst>
              <a:path w="18288000" h="10450286">
                <a:moveTo>
                  <a:pt x="0" y="0"/>
                </a:moveTo>
                <a:lnTo>
                  <a:pt x="18288000" y="0"/>
                </a:lnTo>
                <a:lnTo>
                  <a:pt x="18288000" y="10450286"/>
                </a:lnTo>
                <a:lnTo>
                  <a:pt x="0" y="10450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>
            <a:off x="-3937539" y="-5090168"/>
            <a:ext cx="25666916" cy="23226537"/>
            <a:chOff x="0" y="0"/>
            <a:chExt cx="34222554" cy="30968716"/>
          </a:xfrm>
        </p:grpSpPr>
        <p:sp>
          <p:nvSpPr>
            <p:cNvPr id="4" name="Freeform 4"/>
            <p:cNvSpPr/>
            <p:nvPr/>
          </p:nvSpPr>
          <p:spPr>
            <a:xfrm>
              <a:off x="5250052" y="6786891"/>
              <a:ext cx="3156262" cy="3156262"/>
            </a:xfrm>
            <a:custGeom>
              <a:avLst/>
              <a:gdLst/>
              <a:ahLst/>
              <a:cxnLst/>
              <a:rect l="l" t="t" r="r" b="b"/>
              <a:pathLst>
                <a:path w="3156262" h="3156262">
                  <a:moveTo>
                    <a:pt x="0" y="0"/>
                  </a:moveTo>
                  <a:lnTo>
                    <a:pt x="3156262" y="0"/>
                  </a:lnTo>
                  <a:lnTo>
                    <a:pt x="3156262" y="3156262"/>
                  </a:lnTo>
                  <a:lnTo>
                    <a:pt x="0" y="31562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5" name="Freeform 5"/>
            <p:cNvSpPr/>
            <p:nvPr/>
          </p:nvSpPr>
          <p:spPr>
            <a:xfrm rot="-2484000" flipH="1">
              <a:off x="14206673" y="19325584"/>
              <a:ext cx="20818662" cy="5438875"/>
            </a:xfrm>
            <a:custGeom>
              <a:avLst/>
              <a:gdLst/>
              <a:ahLst/>
              <a:cxnLst/>
              <a:rect l="l" t="t" r="r" b="b"/>
              <a:pathLst>
                <a:path w="20818662" h="5438875">
                  <a:moveTo>
                    <a:pt x="20818661" y="0"/>
                  </a:moveTo>
                  <a:lnTo>
                    <a:pt x="0" y="0"/>
                  </a:lnTo>
                  <a:lnTo>
                    <a:pt x="0" y="5438876"/>
                  </a:lnTo>
                  <a:lnTo>
                    <a:pt x="20818661" y="5438876"/>
                  </a:lnTo>
                  <a:lnTo>
                    <a:pt x="20818661" y="0"/>
                  </a:lnTo>
                  <a:close/>
                </a:path>
              </a:pathLst>
            </a:custGeom>
            <a:blipFill>
              <a:blip r:embed="rId4">
                <a:alphaModFix amt="4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grpSp>
          <p:nvGrpSpPr>
            <p:cNvPr id="6" name="Group 6"/>
            <p:cNvGrpSpPr/>
            <p:nvPr/>
          </p:nvGrpSpPr>
          <p:grpSpPr>
            <a:xfrm>
              <a:off x="2756329" y="4715493"/>
              <a:ext cx="15211479" cy="16203031"/>
              <a:chOff x="0" y="0"/>
              <a:chExt cx="5325529" cy="5672671"/>
            </a:xfrm>
          </p:grpSpPr>
          <p:sp>
            <p:nvSpPr>
              <p:cNvPr id="7" name="Freeform 7"/>
              <p:cNvSpPr/>
              <p:nvPr/>
            </p:nvSpPr>
            <p:spPr>
              <a:xfrm flipH="1">
                <a:off x="0" y="0"/>
                <a:ext cx="5325491" cy="5672709"/>
              </a:xfrm>
              <a:custGeom>
                <a:avLst/>
                <a:gdLst/>
                <a:ahLst/>
                <a:cxnLst/>
                <a:rect l="l" t="t" r="r" b="b"/>
                <a:pathLst>
                  <a:path w="5325491" h="5672709">
                    <a:moveTo>
                      <a:pt x="5325491" y="0"/>
                    </a:moveTo>
                    <a:lnTo>
                      <a:pt x="5325491" y="5672709"/>
                    </a:lnTo>
                    <a:lnTo>
                      <a:pt x="0" y="5672709"/>
                    </a:lnTo>
                    <a:lnTo>
                      <a:pt x="5325491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l="-125207" r="-50449" b="-45566"/>
                </a:stretch>
              </a:blipFill>
            </p:spPr>
            <p:txBody>
              <a:bodyPr/>
              <a:p/>
            </p:txBody>
          </p:sp>
        </p:grpSp>
        <p:grpSp>
          <p:nvGrpSpPr>
            <p:cNvPr id="8" name="Group 8"/>
            <p:cNvGrpSpPr/>
            <p:nvPr/>
          </p:nvGrpSpPr>
          <p:grpSpPr>
            <a:xfrm rot="-2612396">
              <a:off x="13421562" y="2778328"/>
              <a:ext cx="1721466" cy="24412220"/>
              <a:chOff x="0" y="0"/>
              <a:chExt cx="340043" cy="4822167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340043" cy="4822167"/>
              </a:xfrm>
              <a:custGeom>
                <a:avLst/>
                <a:gdLst/>
                <a:ahLst/>
                <a:cxnLst/>
                <a:rect l="l" t="t" r="r" b="b"/>
                <a:pathLst>
                  <a:path w="340043" h="4822167">
                    <a:moveTo>
                      <a:pt x="0" y="0"/>
                    </a:moveTo>
                    <a:lnTo>
                      <a:pt x="340043" y="0"/>
                    </a:lnTo>
                    <a:lnTo>
                      <a:pt x="340043" y="4822167"/>
                    </a:lnTo>
                    <a:lnTo>
                      <a:pt x="0" y="482216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B5285">
                      <a:alpha val="100000"/>
                    </a:srgbClr>
                  </a:gs>
                  <a:gs pos="50000">
                    <a:srgbClr val="0B5285">
                      <a:alpha val="71000"/>
                    </a:srgbClr>
                  </a:gs>
                  <a:gs pos="100000">
                    <a:srgbClr val="0B51AE">
                      <a:alpha val="0"/>
                    </a:srgbClr>
                  </a:gs>
                </a:gsLst>
                <a:lin ang="5400000"/>
              </a:gradFill>
            </p:spPr>
            <p:txBody>
              <a:bodyPr/>
              <a:p/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340043" cy="48602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 flipH="1">
              <a:off x="8822842" y="9360217"/>
              <a:ext cx="8065898" cy="8569347"/>
            </a:xfrm>
            <a:custGeom>
              <a:avLst/>
              <a:gdLst/>
              <a:ahLst/>
              <a:cxnLst/>
              <a:rect l="l" t="t" r="r" b="b"/>
              <a:pathLst>
                <a:path w="8065898" h="8569347">
                  <a:moveTo>
                    <a:pt x="8065898" y="0"/>
                  </a:moveTo>
                  <a:lnTo>
                    <a:pt x="0" y="0"/>
                  </a:lnTo>
                  <a:lnTo>
                    <a:pt x="0" y="8569347"/>
                  </a:lnTo>
                  <a:lnTo>
                    <a:pt x="8065898" y="8569347"/>
                  </a:lnTo>
                  <a:lnTo>
                    <a:pt x="8065898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grpSp>
          <p:nvGrpSpPr>
            <p:cNvPr id="12" name="Group 12"/>
            <p:cNvGrpSpPr/>
            <p:nvPr/>
          </p:nvGrpSpPr>
          <p:grpSpPr>
            <a:xfrm>
              <a:off x="9826303" y="10615403"/>
              <a:ext cx="6058976" cy="6058976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 l="-13454" t="-14463" r="-18163" b="-17154"/>
                </a:stretch>
              </a:blipFill>
            </p:spPr>
            <p:txBody>
              <a:bodyPr/>
              <a:p/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7193851" y="8395137"/>
              <a:ext cx="499697" cy="576851"/>
            </a:xfrm>
            <a:custGeom>
              <a:avLst/>
              <a:gdLst/>
              <a:ahLst/>
              <a:cxnLst/>
              <a:rect l="l" t="t" r="r" b="b"/>
              <a:pathLst>
                <a:path w="499697" h="576851">
                  <a:moveTo>
                    <a:pt x="0" y="0"/>
                  </a:moveTo>
                  <a:lnTo>
                    <a:pt x="499697" y="0"/>
                  </a:lnTo>
                  <a:lnTo>
                    <a:pt x="499697" y="576851"/>
                  </a:lnTo>
                  <a:lnTo>
                    <a:pt x="0" y="576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15" name="Freeform 15"/>
            <p:cNvSpPr/>
            <p:nvPr/>
          </p:nvSpPr>
          <p:spPr>
            <a:xfrm>
              <a:off x="15009453" y="8055653"/>
              <a:ext cx="875826" cy="875826"/>
            </a:xfrm>
            <a:custGeom>
              <a:avLst/>
              <a:gdLst/>
              <a:ahLst/>
              <a:cxnLst/>
              <a:rect l="l" t="t" r="r" b="b"/>
              <a:pathLst>
                <a:path w="875826" h="875826">
                  <a:moveTo>
                    <a:pt x="0" y="0"/>
                  </a:moveTo>
                  <a:lnTo>
                    <a:pt x="875826" y="0"/>
                  </a:lnTo>
                  <a:lnTo>
                    <a:pt x="875826" y="875827"/>
                  </a:lnTo>
                  <a:lnTo>
                    <a:pt x="0" y="875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grpSp>
          <p:nvGrpSpPr>
            <p:cNvPr id="16" name="Group 16"/>
            <p:cNvGrpSpPr/>
            <p:nvPr/>
          </p:nvGrpSpPr>
          <p:grpSpPr>
            <a:xfrm rot="-8100000">
              <a:off x="3765814" y="230682"/>
              <a:ext cx="6113263" cy="13183526"/>
              <a:chOff x="0" y="0"/>
              <a:chExt cx="1207558" cy="260415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07558" cy="2604153"/>
              </a:xfrm>
              <a:custGeom>
                <a:avLst/>
                <a:gdLst/>
                <a:ahLst/>
                <a:cxnLst/>
                <a:rect l="l" t="t" r="r" b="b"/>
                <a:pathLst>
                  <a:path w="1207558" h="2604153">
                    <a:moveTo>
                      <a:pt x="0" y="0"/>
                    </a:moveTo>
                    <a:lnTo>
                      <a:pt x="1207558" y="0"/>
                    </a:lnTo>
                    <a:lnTo>
                      <a:pt x="1207558" y="2604153"/>
                    </a:lnTo>
                    <a:lnTo>
                      <a:pt x="0" y="2604153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B5285">
                      <a:alpha val="100000"/>
                    </a:srgbClr>
                  </a:gs>
                  <a:gs pos="50000">
                    <a:srgbClr val="0B5285">
                      <a:alpha val="71000"/>
                    </a:srgbClr>
                  </a:gs>
                  <a:gs pos="100000">
                    <a:srgbClr val="0B51AE">
                      <a:alpha val="0"/>
                    </a:srgbClr>
                  </a:gs>
                </a:gsLst>
                <a:lin ang="5400000"/>
              </a:gradFill>
            </p:spPr>
            <p:txBody>
              <a:bodyPr/>
              <a:p/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07558" cy="264225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 rot="-8100000">
              <a:off x="4515894" y="1950513"/>
              <a:ext cx="4211514" cy="8649573"/>
              <a:chOff x="0" y="0"/>
              <a:chExt cx="831904" cy="170855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831904" cy="1708558"/>
              </a:xfrm>
              <a:custGeom>
                <a:avLst/>
                <a:gdLst/>
                <a:ahLst/>
                <a:cxnLst/>
                <a:rect l="l" t="t" r="r" b="b"/>
                <a:pathLst>
                  <a:path w="831904" h="1708558">
                    <a:moveTo>
                      <a:pt x="0" y="0"/>
                    </a:moveTo>
                    <a:lnTo>
                      <a:pt x="831904" y="0"/>
                    </a:lnTo>
                    <a:lnTo>
                      <a:pt x="831904" y="1708558"/>
                    </a:lnTo>
                    <a:lnTo>
                      <a:pt x="0" y="1708558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FF">
                      <a:alpha val="100000"/>
                    </a:srgbClr>
                  </a:gs>
                  <a:gs pos="50000">
                    <a:srgbClr val="FFFFFF">
                      <a:alpha val="71000"/>
                    </a:srgbClr>
                  </a:gs>
                  <a:gs pos="100000">
                    <a:srgbClr val="0B51AE">
                      <a:alpha val="0"/>
                    </a:srgbClr>
                  </a:gs>
                </a:gsLst>
                <a:lin ang="5400000"/>
              </a:gradFill>
            </p:spPr>
            <p:txBody>
              <a:bodyPr/>
              <a:p/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831904" cy="174665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2" name="Freeform 22"/>
            <p:cNvSpPr/>
            <p:nvPr/>
          </p:nvSpPr>
          <p:spPr>
            <a:xfrm>
              <a:off x="7707614" y="9360217"/>
              <a:ext cx="3461118" cy="3456792"/>
            </a:xfrm>
            <a:custGeom>
              <a:avLst/>
              <a:gdLst/>
              <a:ahLst/>
              <a:cxnLst/>
              <a:rect l="l" t="t" r="r" b="b"/>
              <a:pathLst>
                <a:path w="3461118" h="3456792">
                  <a:moveTo>
                    <a:pt x="0" y="0"/>
                  </a:moveTo>
                  <a:lnTo>
                    <a:pt x="3461119" y="0"/>
                  </a:lnTo>
                  <a:lnTo>
                    <a:pt x="3461119" y="3456792"/>
                  </a:lnTo>
                  <a:lnTo>
                    <a:pt x="0" y="345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23" name="Freeform 23"/>
            <p:cNvSpPr/>
            <p:nvPr/>
          </p:nvSpPr>
          <p:spPr>
            <a:xfrm>
              <a:off x="13980933" y="14882928"/>
              <a:ext cx="3461118" cy="3456792"/>
            </a:xfrm>
            <a:custGeom>
              <a:avLst/>
              <a:gdLst/>
              <a:ahLst/>
              <a:cxnLst/>
              <a:rect l="l" t="t" r="r" b="b"/>
              <a:pathLst>
                <a:path w="3461118" h="3456792">
                  <a:moveTo>
                    <a:pt x="0" y="0"/>
                  </a:moveTo>
                  <a:lnTo>
                    <a:pt x="3461119" y="0"/>
                  </a:lnTo>
                  <a:lnTo>
                    <a:pt x="3461119" y="3456792"/>
                  </a:lnTo>
                  <a:lnTo>
                    <a:pt x="0" y="3456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24" name="Freeform 24"/>
            <p:cNvSpPr/>
            <p:nvPr/>
          </p:nvSpPr>
          <p:spPr>
            <a:xfrm>
              <a:off x="18526608" y="13053045"/>
              <a:ext cx="1296020" cy="948872"/>
            </a:xfrm>
            <a:custGeom>
              <a:avLst/>
              <a:gdLst/>
              <a:ahLst/>
              <a:cxnLst/>
              <a:rect l="l" t="t" r="r" b="b"/>
              <a:pathLst>
                <a:path w="1296020" h="948872">
                  <a:moveTo>
                    <a:pt x="0" y="0"/>
                  </a:moveTo>
                  <a:lnTo>
                    <a:pt x="1296020" y="0"/>
                  </a:lnTo>
                  <a:lnTo>
                    <a:pt x="1296020" y="948871"/>
                  </a:lnTo>
                  <a:lnTo>
                    <a:pt x="0" y="948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25" name="Freeform 25"/>
            <p:cNvSpPr/>
            <p:nvPr/>
          </p:nvSpPr>
          <p:spPr>
            <a:xfrm>
              <a:off x="18526608" y="14904705"/>
              <a:ext cx="1329417" cy="948872"/>
            </a:xfrm>
            <a:custGeom>
              <a:avLst/>
              <a:gdLst/>
              <a:ahLst/>
              <a:cxnLst/>
              <a:rect l="l" t="t" r="r" b="b"/>
              <a:pathLst>
                <a:path w="1329417" h="948872">
                  <a:moveTo>
                    <a:pt x="0" y="0"/>
                  </a:moveTo>
                  <a:lnTo>
                    <a:pt x="1329418" y="0"/>
                  </a:lnTo>
                  <a:lnTo>
                    <a:pt x="1329418" y="948871"/>
                  </a:lnTo>
                  <a:lnTo>
                    <a:pt x="0" y="9488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  <p:txBody>
            <a:bodyPr/>
            <a:p/>
          </p:txBody>
        </p:sp>
        <p:sp>
          <p:nvSpPr>
            <p:cNvPr id="26" name="TextBox 26"/>
            <p:cNvSpPr txBox="1"/>
            <p:nvPr/>
          </p:nvSpPr>
          <p:spPr>
            <a:xfrm>
              <a:off x="18526608" y="7723285"/>
              <a:ext cx="10009370" cy="21399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2119"/>
                </a:lnSpc>
                <a:spcBef>
                  <a:spcPct val="0"/>
                </a:spcBef>
              </a:pPr>
              <a:r>
                <a:rPr lang="en-US" sz="10099" b="1">
                  <a:solidFill>
                    <a:srgbClr val="213458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Thank you!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526608" y="10437910"/>
              <a:ext cx="5116615" cy="823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25"/>
                </a:lnSpc>
              </a:pPr>
              <a:r>
                <a:rPr lang="en-US" sz="4020" b="1">
                  <a:solidFill>
                    <a:srgbClr val="380F5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GET IN TOUCH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526608" y="11251765"/>
              <a:ext cx="5116615" cy="8233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25"/>
                </a:lnSpc>
              </a:pPr>
              <a:r>
                <a:rPr lang="en-US" sz="4020" b="1">
                  <a:solidFill>
                    <a:srgbClr val="21345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WITH US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0382086" y="13024470"/>
              <a:ext cx="4272861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3000">
                  <a:solidFill>
                    <a:srgbClr val="213458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Project Team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382086" y="14825330"/>
              <a:ext cx="4272861" cy="559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3000">
                  <a:solidFill>
                    <a:srgbClr val="263F6B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Mentor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382086" y="13564855"/>
              <a:ext cx="3656422" cy="628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1345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/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382086" y="15365715"/>
              <a:ext cx="7007749" cy="6286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213458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/>
              </a:r>
            </a:p>
          </p:txBody>
        </p:sp>
      </p:grpSp>
      <p:sp>
        <p:nvSpPr>
          <p:cNvPr id="33" name="TextBox 32"/>
          <p:cNvSpPr txBox="1"/>
          <p:nvPr/>
        </p:nvSpPr>
        <p:spPr>
          <a:xfrm>
            <a:off x="2377440" y="438912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A9396"/>
                </a:solidFill>
                <a:latin typeface="Segoe UI"/>
              </a:defRPr>
            </a:pPr>
            <a:r>
              <a:t>PROJECT SUMMARY, DOCUMENTATION &amp; ACKNOWLEDGMENTS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713232"/>
            <a:ext cx="12801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500" b="1">
                <a:solidFill>
                  <a:srgbClr val="0A2540"/>
                </a:solidFill>
                <a:latin typeface="Segoe UI"/>
              </a:defRPr>
            </a:pPr>
            <a:r>
              <a:t>Conclusion &amp; References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0" y="9692640"/>
            <a:ext cx="45720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Segoe UI"/>
              </a:defRPr>
            </a:pPr>
            <a:r>
              <a:t>EduVerse AI • Mini Project Review-2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1554480"/>
            <a:ext cx="932688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>
              <a:defRPr sz="1100" b="1">
                <a:solidFill>
                  <a:srgbClr val="005F73"/>
                </a:solidFill>
                <a:latin typeface="Segoe UI"/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  <a:latin typeface="Segoe UI"/>
              </a:defRPr>
            </a:pPr>
            <a:r>
              <a:t>“EduVerse AI demonstrates how generative AI can be integrated with educational content to create an interactive virtual learning assistant. The proposed workflow connects study-material processing, contextual Q&amp;A, explanation generation and quiz-based practice through a unified interface.”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4160520"/>
            <a:ext cx="9326880" cy="1188720"/>
          </a:xfrm>
          <a:prstGeom prst="round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64592"/>
          <a:lstStyle/>
          <a:p>
            <a:pPr algn="ctr">
              <a:defRPr sz="1000" b="1">
                <a:solidFill>
                  <a:srgbClr val="94D2BD"/>
                </a:solidFill>
                <a:latin typeface="Segoe UI"/>
              </a:defRPr>
            </a:pPr>
            <a:r>
              <a:t>KEY TAKEAWAY WORKFLOW</a:t>
            </a:r>
          </a:p>
          <a:p>
            <a:pPr>
              <a:spcBef>
                <a:spcPts val="4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Study Material  ➔  AI Understanding  ➔  Interactive Tutor  ➔  Practice  ➔  Feedback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532120"/>
            <a:ext cx="9326880" cy="3794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E6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01168" wrap="square"/>
          <a:lstStyle/>
          <a:p>
            <a:pPr algn="ctr">
              <a:defRPr sz="1100" b="1">
                <a:solidFill>
                  <a:srgbClr val="0A9396"/>
                </a:solidFill>
                <a:latin typeface="Segoe UI"/>
              </a:defRPr>
            </a:pPr>
            <a:r>
              <a:t>TECHNICAL DOCUMENTATION &amp; REFERENCES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React Documentation — Official documentation for React component lifecycle &amp; UI architecture (react.dev).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FastAPI Documentation — High-performance Python API framework for asynchronous request handling (fastapi.tiangolo.com).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PyMuPDF Documentation — High-speed PDF text parsing, chapter extraction, and document processing (pymupdf.readthedocs.io).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LLM API Documentation — Large language model interfaces, prompting strategies, and contextual comprehension APIs.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Three.js Documentation — WebGL JavaScript 3D library for browser-based character animation &amp; rendering (threejs.org).</a:t>
            </a:r>
          </a:p>
          <a:p>
            <a:pPr>
              <a:spcBef>
                <a:spcPts val="400"/>
              </a:spcBef>
              <a:defRPr sz="1050">
                <a:solidFill>
                  <a:srgbClr val="334155"/>
                </a:solidFill>
                <a:latin typeface="Segoe UI"/>
              </a:defRPr>
            </a:pPr>
            <a:r>
              <a:t>•  Academic Literature — Recent research on AI-assisted personalized tutoring, generative learning interfaces, and automated assessment.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515600" y="1554480"/>
            <a:ext cx="6858000" cy="7772400"/>
          </a:xfrm>
          <a:prstGeom prst="roundRect">
            <a:avLst/>
          </a:prstGeom>
          <a:solidFill>
            <a:srgbClr val="F8FBFC"/>
          </a:solidFill>
          <a:ln w="19050">
            <a:solidFill>
              <a:srgbClr val="94D2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 wrap="square"/>
          <a:lstStyle/>
          <a:p>
            <a:pPr algn="ctr">
              <a:defRPr sz="3600" b="1">
                <a:solidFill>
                  <a:srgbClr val="0A2540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600"/>
              </a:spcBef>
              <a:defRPr sz="2200" b="1">
                <a:solidFill>
                  <a:srgbClr val="005F73"/>
                </a:solidFill>
                <a:latin typeface="Segoe UI"/>
              </a:defRPr>
            </a:pPr>
            <a:r>
              <a:t>EduVerse AI</a:t>
            </a:r>
          </a:p>
          <a:p>
            <a:pPr>
              <a:spcBef>
                <a:spcPts val="200"/>
              </a:spcBef>
              <a:defRPr sz="1300">
                <a:solidFill>
                  <a:srgbClr val="64748B"/>
                </a:solidFill>
                <a:latin typeface="Segoe UI"/>
              </a:defRPr>
            </a:pPr>
            <a:r>
              <a:t>An Animated Virtual Tutor for Personalized Learning</a:t>
            </a:r>
          </a:p>
          <a:p>
            <a:br/>
            <a:pPr>
              <a:spcBef>
                <a:spcPts val="1200"/>
              </a:spcBef>
              <a:defRPr sz="1250">
                <a:solidFill>
                  <a:srgbClr val="0F172A"/>
                </a:solidFill>
                <a:latin typeface="Segoe UI"/>
              </a:defRPr>
            </a:pPr>
            <a:r>
              <a:t>Department of Artificial Intelligence &amp; Data Science</a:t>
            </a:r>
            <a:br/>
            <a:r>
              <a:t>Indira College of Engineering &amp; Management, Pune</a:t>
            </a:r>
            <a:br/>
            <a:r>
              <a:t>(An Autonomous Institute Affiliated to SPPU)</a:t>
            </a:r>
            <a:br/>
            <a:r>
              <a:t>Academic Year: 2026–2027</a:t>
            </a:r>
          </a:p>
          <a:p>
            <a:br/>
            <a:pPr>
              <a:spcBef>
                <a:spcPts val="1200"/>
              </a:spcBef>
              <a:defRPr sz="1200" b="1">
                <a:solidFill>
                  <a:srgbClr val="0A9396"/>
                </a:solidFill>
                <a:latin typeface="Segoe UI"/>
              </a:defRPr>
            </a:pPr>
            <a:r>
              <a:t>👥  PROJECT TEAM:</a:t>
            </a:r>
          </a:p>
          <a:p>
            <a:pPr>
              <a:spcBef>
                <a:spcPts val="300"/>
              </a:spcBef>
              <a:defRPr sz="1300" b="1">
                <a:solidFill>
                  <a:srgbClr val="0A2540"/>
                </a:solidFill>
                <a:latin typeface="Segoe UI"/>
              </a:defRPr>
            </a:pPr>
            <a:r>
              <a:t>•  Aryan Shinde</a:t>
            </a:r>
          </a:p>
          <a:p>
            <a:pPr>
              <a:spcBef>
                <a:spcPts val="300"/>
              </a:spcBef>
              <a:defRPr sz="1300" b="1">
                <a:solidFill>
                  <a:srgbClr val="0A2540"/>
                </a:solidFill>
                <a:latin typeface="Segoe UI"/>
              </a:defRPr>
            </a:pPr>
            <a:r>
              <a:t>•  Huzaifa Sheikh</a:t>
            </a:r>
          </a:p>
          <a:p>
            <a:pPr>
              <a:spcBef>
                <a:spcPts val="300"/>
              </a:spcBef>
              <a:defRPr sz="1300" b="1">
                <a:solidFill>
                  <a:srgbClr val="0A2540"/>
                </a:solidFill>
                <a:latin typeface="Segoe UI"/>
              </a:defRPr>
            </a:pPr>
            <a:r>
              <a:t>•  Sufiyan Surve</a:t>
            </a:r>
          </a:p>
          <a:p>
            <a:br/>
            <a:pPr>
              <a:spcBef>
                <a:spcPts val="1000"/>
              </a:spcBef>
              <a:defRPr sz="1200" b="1">
                <a:solidFill>
                  <a:srgbClr val="0A9396"/>
                </a:solidFill>
                <a:latin typeface="Segoe UI"/>
              </a:defRPr>
            </a:pPr>
            <a:r>
              <a:t>🎓  UNDER THE GUIDANCE OF:</a:t>
            </a:r>
          </a:p>
          <a:p>
            <a:pPr>
              <a:spcBef>
                <a:spcPts val="300"/>
              </a:spcBef>
              <a:defRPr sz="1400" b="1">
                <a:solidFill>
                  <a:srgbClr val="0A2540"/>
                </a:solidFill>
                <a:latin typeface="Segoe UI"/>
              </a:defRPr>
            </a:pPr>
            <a:r>
              <a:t>Prof. Monika Patil  (Project Mentor)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Add a heading</dc:title>
  <cp:revision>1</cp:revision>
  <dcterms:created xsi:type="dcterms:W3CDTF">2006-08-16T00:00:00Z</dcterms:created>
  <dcterms:modified xsi:type="dcterms:W3CDTF">2025-10-03T06:53:57Z</dcterms:modified>
  <dc:identifier>DAGxugl7tc4</dc:identifier>
</cp:coreProperties>
</file>